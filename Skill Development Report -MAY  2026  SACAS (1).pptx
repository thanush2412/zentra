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4" r:id="rId2"/>
  </p:sldMasterIdLst>
  <p:notesMasterIdLst>
    <p:notesMasterId r:id="rId37"/>
  </p:notesMasterIdLst>
  <p:sldIdLst>
    <p:sldId id="256" r:id="rId3"/>
    <p:sldId id="257" r:id="rId4"/>
    <p:sldId id="332" r:id="rId5"/>
    <p:sldId id="333" r:id="rId6"/>
    <p:sldId id="259" r:id="rId7"/>
    <p:sldId id="335" r:id="rId8"/>
    <p:sldId id="260" r:id="rId9"/>
    <p:sldId id="261" r:id="rId10"/>
    <p:sldId id="262" r:id="rId11"/>
    <p:sldId id="265" r:id="rId12"/>
    <p:sldId id="306" r:id="rId13"/>
    <p:sldId id="336" r:id="rId14"/>
    <p:sldId id="307" r:id="rId15"/>
    <p:sldId id="308" r:id="rId16"/>
    <p:sldId id="309" r:id="rId17"/>
    <p:sldId id="360" r:id="rId18"/>
    <p:sldId id="313" r:id="rId19"/>
    <p:sldId id="339" r:id="rId20"/>
    <p:sldId id="314" r:id="rId21"/>
    <p:sldId id="315" r:id="rId22"/>
    <p:sldId id="316" r:id="rId23"/>
    <p:sldId id="362" r:id="rId24"/>
    <p:sldId id="327" r:id="rId25"/>
    <p:sldId id="338" r:id="rId26"/>
    <p:sldId id="287" r:id="rId27"/>
    <p:sldId id="288" r:id="rId28"/>
    <p:sldId id="289" r:id="rId29"/>
    <p:sldId id="329" r:id="rId30"/>
    <p:sldId id="300" r:id="rId31"/>
    <p:sldId id="302" r:id="rId32"/>
    <p:sldId id="344" r:id="rId33"/>
    <p:sldId id="363" r:id="rId34"/>
    <p:sldId id="354" r:id="rId35"/>
    <p:sldId id="304" r:id="rId36"/>
  </p:sldIdLst>
  <p:sldSz cx="9144000" cy="5143500" type="screen16x9"/>
  <p:notesSz cx="9144000" cy="5143500"/>
  <p:embeddedFontLst>
    <p:embeddedFont>
      <p:font typeface="Arial Black" panose="020B0A04020102020204" pitchFamily="34" charset="0"/>
      <p:bold r:id="rId38"/>
    </p:embeddedFont>
    <p:embeddedFont>
      <p:font typeface="Castellar" panose="020A0402060406010301" pitchFamily="18" charset="0"/>
      <p:regular r:id="rId39"/>
    </p:embeddedFont>
    <p:embeddedFont>
      <p:font typeface="Public Sans" panose="020B0604020202020204" charset="0"/>
      <p:regular r:id="rId40"/>
    </p:embeddedFont>
    <p:embeddedFont>
      <p:font typeface="Trebuchet MS" panose="020B060302020202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92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D509D9-EFF1-43CC-89DA-3F1EFB74FC22}" v="12" dt="2026-06-11T16:03:26.694"/>
    <p1510:client id="{F2BFF8E2-14AC-4C27-81F5-4F26AA9C6A18}" v="8" dt="2026-06-12T07:12:58.03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230B800-8133-4549-80BD-594ECD9E257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autoAdjust="0"/>
    <p:restoredTop sz="95196" autoAdjust="0"/>
  </p:normalViewPr>
  <p:slideViewPr>
    <p:cSldViewPr snapToGrid="0" showGuides="1">
      <p:cViewPr>
        <p:scale>
          <a:sx n="100" d="100"/>
          <a:sy n="100" d="100"/>
        </p:scale>
        <p:origin x="1812" y="738"/>
      </p:cViewPr>
      <p:guideLst>
        <p:guide orient="horz" pos="2926"/>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5.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385750"/>
            <a:ext cx="6096300" cy="1928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 name="Google Shape;50;p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22cd3cfe0b_0_44:notes"/>
          <p:cNvSpPr>
            <a:spLocks noGrp="1" noRot="1" noChangeAspect="1"/>
          </p:cNvSpPr>
          <p:nvPr>
            <p:ph type="sldImg" idx="2"/>
          </p:nvPr>
        </p:nvSpPr>
        <p:spPr>
          <a:xfrm>
            <a:off x="187325" y="0"/>
            <a:ext cx="1125538" cy="6334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58" name="Google Shape;58;g322cd3cfe0b_0_44:notes"/>
          <p:cNvSpPr txBox="1">
            <a:spLocks noGrp="1"/>
          </p:cNvSpPr>
          <p:nvPr>
            <p:ph type="body" idx="1"/>
          </p:nvPr>
        </p:nvSpPr>
        <p:spPr>
          <a:xfrm>
            <a:off x="0" y="0"/>
            <a:ext cx="2000100" cy="632700"/>
          </a:xfrm>
          <a:prstGeom prst="rect">
            <a:avLst/>
          </a:prstGeom>
          <a:noFill/>
          <a:ln>
            <a:noFill/>
          </a:ln>
        </p:spPr>
        <p:txBody>
          <a:bodyPr spcFirstLastPara="1" wrap="square" lIns="41900" tIns="20950" rIns="41900" bIns="20950" anchor="t" anchorCtr="0">
            <a:noAutofit/>
          </a:bodyPr>
          <a:lstStyle/>
          <a:p>
            <a:pPr marL="0" marR="0" lvl="0" indent="0" algn="l" rtl="0">
              <a:lnSpc>
                <a:spcPct val="100000"/>
              </a:lnSpc>
              <a:spcBef>
                <a:spcPts val="0"/>
              </a:spcBef>
              <a:spcAft>
                <a:spcPts val="0"/>
              </a:spcAft>
              <a:buSzPts val="1100"/>
              <a:buNone/>
            </a:pPr>
            <a:endParaRPr sz="5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9" name="Google Shape;59;g322cd3cfe0b_0_44:notes"/>
          <p:cNvSpPr txBox="1">
            <a:spLocks noGrp="1"/>
          </p:cNvSpPr>
          <p:nvPr>
            <p:ph type="sldNum" idx="12"/>
          </p:nvPr>
        </p:nvSpPr>
        <p:spPr>
          <a:xfrm>
            <a:off x="0" y="0"/>
            <a:ext cx="2000100" cy="632700"/>
          </a:xfrm>
          <a:prstGeom prst="rect">
            <a:avLst/>
          </a:prstGeom>
          <a:noFill/>
          <a:ln>
            <a:noFill/>
          </a:ln>
        </p:spPr>
        <p:txBody>
          <a:bodyPr spcFirstLastPara="1" wrap="square" lIns="41900" tIns="20950" rIns="41900" bIns="20950" anchor="t" anchorCtr="0">
            <a:noAutofit/>
          </a:bodyPr>
          <a:lstStyle/>
          <a:p>
            <a:pPr marL="0" marR="0" lvl="0" indent="0" algn="l" rtl="0">
              <a:lnSpc>
                <a:spcPct val="100000"/>
              </a:lnSpc>
              <a:spcBef>
                <a:spcPts val="0"/>
              </a:spcBef>
              <a:spcAft>
                <a:spcPts val="0"/>
              </a:spcAft>
              <a:buClr>
                <a:srgbClr val="000000"/>
              </a:buClr>
              <a:buSzPts val="800"/>
              <a:buFont typeface="Arial" panose="020B0604020202020204"/>
              <a:buNone/>
            </a:pPr>
            <a:fld id="{00000000-1234-1234-1234-123412341234}" type="slidenum">
              <a:rPr lang="en-US" sz="800" b="0" i="0" u="none" strike="noStrike" cap="none">
                <a:solidFill>
                  <a:schemeClr val="dk1"/>
                </a:solidFill>
                <a:latin typeface="Calibri" panose="020F0502020204030204"/>
                <a:ea typeface="Calibri" panose="020F0502020204030204"/>
                <a:cs typeface="Calibri" panose="020F0502020204030204"/>
                <a:sym typeface="Calibri" panose="020F0502020204030204"/>
              </a:rPr>
              <a:t>2</a:t>
            </a:fld>
            <a:endParaRPr sz="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22cd3cfe0b_0_44:notes"/>
          <p:cNvSpPr>
            <a:spLocks noGrp="1" noRot="1" noChangeAspect="1"/>
          </p:cNvSpPr>
          <p:nvPr>
            <p:ph type="sldImg" idx="2"/>
          </p:nvPr>
        </p:nvSpPr>
        <p:spPr>
          <a:xfrm>
            <a:off x="187325" y="0"/>
            <a:ext cx="1125538" cy="6334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58" name="Google Shape;58;g322cd3cfe0b_0_44:notes"/>
          <p:cNvSpPr txBox="1">
            <a:spLocks noGrp="1"/>
          </p:cNvSpPr>
          <p:nvPr>
            <p:ph type="body" idx="1"/>
          </p:nvPr>
        </p:nvSpPr>
        <p:spPr>
          <a:xfrm>
            <a:off x="0" y="0"/>
            <a:ext cx="2000100" cy="632700"/>
          </a:xfrm>
          <a:prstGeom prst="rect">
            <a:avLst/>
          </a:prstGeom>
          <a:noFill/>
          <a:ln>
            <a:noFill/>
          </a:ln>
        </p:spPr>
        <p:txBody>
          <a:bodyPr spcFirstLastPara="1" wrap="square" lIns="41900" tIns="20950" rIns="41900" bIns="20950" anchor="t" anchorCtr="0">
            <a:noAutofit/>
          </a:bodyPr>
          <a:lstStyle/>
          <a:p>
            <a:pPr marL="0" marR="0" lvl="0" indent="0" algn="l" rtl="0">
              <a:lnSpc>
                <a:spcPct val="100000"/>
              </a:lnSpc>
              <a:spcBef>
                <a:spcPts val="0"/>
              </a:spcBef>
              <a:spcAft>
                <a:spcPts val="0"/>
              </a:spcAft>
              <a:buSzPts val="1100"/>
              <a:buNone/>
            </a:pPr>
            <a:endParaRPr sz="5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9" name="Google Shape;59;g322cd3cfe0b_0_44:notes"/>
          <p:cNvSpPr txBox="1">
            <a:spLocks noGrp="1"/>
          </p:cNvSpPr>
          <p:nvPr>
            <p:ph type="sldNum" idx="12"/>
          </p:nvPr>
        </p:nvSpPr>
        <p:spPr>
          <a:xfrm>
            <a:off x="0" y="0"/>
            <a:ext cx="2000100" cy="632700"/>
          </a:xfrm>
          <a:prstGeom prst="rect">
            <a:avLst/>
          </a:prstGeom>
          <a:noFill/>
          <a:ln>
            <a:noFill/>
          </a:ln>
        </p:spPr>
        <p:txBody>
          <a:bodyPr spcFirstLastPara="1" wrap="square" lIns="41900" tIns="20950" rIns="41900" bIns="20950" anchor="t" anchorCtr="0">
            <a:noAutofit/>
          </a:bodyPr>
          <a:lstStyle/>
          <a:p>
            <a:pPr marL="0" marR="0" lvl="0" indent="0" algn="l" rtl="0">
              <a:lnSpc>
                <a:spcPct val="100000"/>
              </a:lnSpc>
              <a:spcBef>
                <a:spcPts val="0"/>
              </a:spcBef>
              <a:spcAft>
                <a:spcPts val="0"/>
              </a:spcAft>
              <a:buClr>
                <a:srgbClr val="000000"/>
              </a:buClr>
              <a:buSzPts val="800"/>
              <a:buFont typeface="Arial" panose="020B0604020202020204"/>
              <a:buNone/>
            </a:pPr>
            <a:fld id="{00000000-1234-1234-1234-123412341234}" type="slidenum">
              <a:rPr lang="en-US" sz="800" b="0" i="0" u="none" strike="noStrike" cap="none">
                <a:solidFill>
                  <a:schemeClr val="dk1"/>
                </a:solidFill>
                <a:latin typeface="Calibri" panose="020F0502020204030204"/>
                <a:ea typeface="Calibri" panose="020F0502020204030204"/>
                <a:cs typeface="Calibri" panose="020F0502020204030204"/>
                <a:sym typeface="Calibri" panose="020F0502020204030204"/>
              </a:rPr>
              <a:t>3</a:t>
            </a:fld>
            <a:endParaRPr sz="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22cd3cfe0b_0_44:notes"/>
          <p:cNvSpPr>
            <a:spLocks noGrp="1" noRot="1" noChangeAspect="1"/>
          </p:cNvSpPr>
          <p:nvPr>
            <p:ph type="sldImg" idx="2"/>
          </p:nvPr>
        </p:nvSpPr>
        <p:spPr>
          <a:xfrm>
            <a:off x="187325" y="0"/>
            <a:ext cx="1125538" cy="6334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58" name="Google Shape;58;g322cd3cfe0b_0_44:notes"/>
          <p:cNvSpPr txBox="1">
            <a:spLocks noGrp="1"/>
          </p:cNvSpPr>
          <p:nvPr>
            <p:ph type="body" idx="1"/>
          </p:nvPr>
        </p:nvSpPr>
        <p:spPr>
          <a:xfrm>
            <a:off x="0" y="0"/>
            <a:ext cx="2000100" cy="632700"/>
          </a:xfrm>
          <a:prstGeom prst="rect">
            <a:avLst/>
          </a:prstGeom>
          <a:noFill/>
          <a:ln>
            <a:noFill/>
          </a:ln>
        </p:spPr>
        <p:txBody>
          <a:bodyPr spcFirstLastPara="1" wrap="square" lIns="41900" tIns="20950" rIns="41900" bIns="20950" anchor="t" anchorCtr="0">
            <a:noAutofit/>
          </a:bodyPr>
          <a:lstStyle/>
          <a:p>
            <a:pPr marL="0" marR="0" lvl="0" indent="0" algn="l" rtl="0">
              <a:lnSpc>
                <a:spcPct val="100000"/>
              </a:lnSpc>
              <a:spcBef>
                <a:spcPts val="0"/>
              </a:spcBef>
              <a:spcAft>
                <a:spcPts val="0"/>
              </a:spcAft>
              <a:buSzPts val="1100"/>
              <a:buNone/>
            </a:pPr>
            <a:endParaRPr sz="5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9" name="Google Shape;59;g322cd3cfe0b_0_44:notes"/>
          <p:cNvSpPr txBox="1">
            <a:spLocks noGrp="1"/>
          </p:cNvSpPr>
          <p:nvPr>
            <p:ph type="sldNum" idx="12"/>
          </p:nvPr>
        </p:nvSpPr>
        <p:spPr>
          <a:xfrm>
            <a:off x="0" y="0"/>
            <a:ext cx="2000100" cy="632700"/>
          </a:xfrm>
          <a:prstGeom prst="rect">
            <a:avLst/>
          </a:prstGeom>
          <a:noFill/>
          <a:ln>
            <a:noFill/>
          </a:ln>
        </p:spPr>
        <p:txBody>
          <a:bodyPr spcFirstLastPara="1" wrap="square" lIns="41900" tIns="20950" rIns="41900" bIns="20950" anchor="t" anchorCtr="0">
            <a:noAutofit/>
          </a:bodyPr>
          <a:lstStyle/>
          <a:p>
            <a:pPr marL="0" marR="0" lvl="0" indent="0" algn="l" rtl="0">
              <a:lnSpc>
                <a:spcPct val="100000"/>
              </a:lnSpc>
              <a:spcBef>
                <a:spcPts val="0"/>
              </a:spcBef>
              <a:spcAft>
                <a:spcPts val="0"/>
              </a:spcAft>
              <a:buClr>
                <a:srgbClr val="000000"/>
              </a:buClr>
              <a:buSzPts val="800"/>
              <a:buFont typeface="Arial" panose="020B0604020202020204"/>
              <a:buNone/>
            </a:pPr>
            <a:fld id="{00000000-1234-1234-1234-123412341234}" type="slidenum">
              <a:rPr lang="en-US" sz="800" b="0" i="0" u="none" strike="noStrike" cap="none">
                <a:solidFill>
                  <a:schemeClr val="dk1"/>
                </a:solidFill>
                <a:latin typeface="Calibri" panose="020F0502020204030204"/>
                <a:ea typeface="Calibri" panose="020F0502020204030204"/>
                <a:cs typeface="Calibri" panose="020F0502020204030204"/>
                <a:sym typeface="Calibri" panose="020F0502020204030204"/>
              </a:rPr>
              <a:t>4</a:t>
            </a:fld>
            <a:endParaRPr sz="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2: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2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7dcba7478a_1_1: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g37dcba7478a_1_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p2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28: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p28: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2: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2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7dcba7478a_1_1: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g37dcba7478a_1_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p2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A85FF84-5835-4369-3B85-0DD247935593}"/>
            </a:ext>
          </a:extLst>
        </p:cNvPr>
        <p:cNvGrpSpPr/>
        <p:nvPr/>
      </p:nvGrpSpPr>
      <p:grpSpPr>
        <a:xfrm>
          <a:off x="0" y="0"/>
          <a:ext cx="0" cy="0"/>
          <a:chOff x="0" y="0"/>
          <a:chExt cx="0" cy="0"/>
        </a:xfrm>
      </p:grpSpPr>
      <p:sp>
        <p:nvSpPr>
          <p:cNvPr id="127" name="Google Shape;127;p26:notes">
            <a:extLst>
              <a:ext uri="{FF2B5EF4-FFF2-40B4-BE49-F238E27FC236}">
                <a16:creationId xmlns:a16="http://schemas.microsoft.com/office/drawing/2014/main" id="{4DE6AEE4-7428-8DFF-4106-3B5B49B36CF5}"/>
              </a:ext>
            </a:extLst>
          </p:cNvPr>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26:notes">
            <a:extLst>
              <a:ext uri="{FF2B5EF4-FFF2-40B4-BE49-F238E27FC236}">
                <a16:creationId xmlns:a16="http://schemas.microsoft.com/office/drawing/2014/main" id="{8FE41090-0FEC-AAF0-FE06-067CA5146786}"/>
              </a:ext>
            </a:extLst>
          </p:cNvPr>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707887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2: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2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7dcba7478a_1_1: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g37dcba7478a_1_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6" name="Google Shape;116;p2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B4D26D9-CFB6-C273-A819-9E2275A72434}"/>
            </a:ext>
          </a:extLst>
        </p:cNvPr>
        <p:cNvGrpSpPr/>
        <p:nvPr/>
      </p:nvGrpSpPr>
      <p:grpSpPr>
        <a:xfrm>
          <a:off x="0" y="0"/>
          <a:ext cx="0" cy="0"/>
          <a:chOff x="0" y="0"/>
          <a:chExt cx="0" cy="0"/>
        </a:xfrm>
      </p:grpSpPr>
      <p:sp>
        <p:nvSpPr>
          <p:cNvPr id="127" name="Google Shape;127;p26:notes">
            <a:extLst>
              <a:ext uri="{FF2B5EF4-FFF2-40B4-BE49-F238E27FC236}">
                <a16:creationId xmlns:a16="http://schemas.microsoft.com/office/drawing/2014/main" id="{A6D02546-36CD-5AFD-2B8E-30A7839B0FFC}"/>
              </a:ext>
            </a:extLst>
          </p:cNvPr>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26:notes">
            <a:extLst>
              <a:ext uri="{FF2B5EF4-FFF2-40B4-BE49-F238E27FC236}">
                <a16:creationId xmlns:a16="http://schemas.microsoft.com/office/drawing/2014/main" id="{5C3192B0-F06F-240F-4A2B-99C48C8513AA}"/>
              </a:ext>
            </a:extLst>
          </p:cNvPr>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9911893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2: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2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53: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8" name="Google Shape;418;p5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7dcba7478a_0_1: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0" name="Google Shape;430;g37dcba7478a_0_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54: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1" name="Google Shape;441;p54: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57:notes"/>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3" name="Google Shape;453;p57: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88aa59c50f_0_31: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8" name="Google Shape;578;g388aa59c50f_0_3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88aa59c50f_0_44: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4" name="Google Shape;604;g388aa59c50f_0_44: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88aa59c50f_0_44: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4" name="Google Shape;604;g388aa59c50f_0_44: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a:extLst>
            <a:ext uri="{FF2B5EF4-FFF2-40B4-BE49-F238E27FC236}">
              <a16:creationId xmlns:a16="http://schemas.microsoft.com/office/drawing/2014/main" id="{1445EE87-A5EC-7506-70CE-5E1429D7216E}"/>
            </a:ext>
          </a:extLst>
        </p:cNvPr>
        <p:cNvGrpSpPr/>
        <p:nvPr/>
      </p:nvGrpSpPr>
      <p:grpSpPr>
        <a:xfrm>
          <a:off x="0" y="0"/>
          <a:ext cx="0" cy="0"/>
          <a:chOff x="0" y="0"/>
          <a:chExt cx="0" cy="0"/>
        </a:xfrm>
      </p:grpSpPr>
      <p:sp>
        <p:nvSpPr>
          <p:cNvPr id="603" name="Google Shape;603;g388aa59c50f_0_44:notes">
            <a:extLst>
              <a:ext uri="{FF2B5EF4-FFF2-40B4-BE49-F238E27FC236}">
                <a16:creationId xmlns:a16="http://schemas.microsoft.com/office/drawing/2014/main" id="{B8B8520C-573B-15A2-E9EE-13DA93A07DB4}"/>
              </a:ext>
            </a:extLst>
          </p:cNvPr>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4" name="Google Shape;604;g388aa59c50f_0_44:notes">
            <a:extLst>
              <a:ext uri="{FF2B5EF4-FFF2-40B4-BE49-F238E27FC236}">
                <a16:creationId xmlns:a16="http://schemas.microsoft.com/office/drawing/2014/main" id="{8033D481-993D-81B8-D72F-BC3F610E2D1E}"/>
              </a:ext>
            </a:extLst>
          </p:cNvPr>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632768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88aa59c50f_0_44: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4" name="Google Shape;604;g388aa59c50f_0_44: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37dcba7478a_1_122:notes"/>
          <p:cNvSpPr txBox="1">
            <a:spLocks noGrp="1"/>
          </p:cNvSpPr>
          <p:nvPr>
            <p:ph type="body" idx="1"/>
          </p:nvPr>
        </p:nvSpPr>
        <p:spPr>
          <a:xfrm>
            <a:off x="914400" y="2443150"/>
            <a:ext cx="7315200" cy="2314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0" name="Google Shape;630;g37dcba7478a_1_12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Only" type="obj">
  <p:cSld name="OBJECT">
    <p:bg>
      <p:bgPr>
        <a:solidFill>
          <a:schemeClr val="lt1"/>
        </a:solidFill>
        <a:effectLst/>
      </p:bgPr>
    </p:bg>
    <p:spTree>
      <p:nvGrpSpPr>
        <p:cNvPr id="1" name="Shape 12"/>
        <p:cNvGrpSpPr/>
        <p:nvPr/>
      </p:nvGrpSpPr>
      <p:grpSpPr>
        <a:xfrm>
          <a:off x="0" y="0"/>
          <a:ext cx="0" cy="0"/>
          <a:chOff x="0" y="0"/>
          <a:chExt cx="0" cy="0"/>
        </a:xfrm>
      </p:grpSpPr>
      <p:pic>
        <p:nvPicPr>
          <p:cNvPr id="13" name="Google Shape;13;p16"/>
          <p:cNvPicPr preferRelativeResize="0"/>
          <p:nvPr/>
        </p:nvPicPr>
        <p:blipFill rotWithShape="1">
          <a:blip r:embed="rId2"/>
          <a:srcRect/>
          <a:stretch>
            <a:fillRect/>
          </a:stretch>
        </p:blipFill>
        <p:spPr>
          <a:xfrm>
            <a:off x="0" y="0"/>
            <a:ext cx="9143952" cy="5142830"/>
          </a:xfrm>
          <a:prstGeom prst="rect">
            <a:avLst/>
          </a:prstGeom>
          <a:noFill/>
          <a:ln>
            <a:noFill/>
          </a:ln>
        </p:spPr>
      </p:pic>
      <p:pic>
        <p:nvPicPr>
          <p:cNvPr id="14" name="Google Shape;14;p16"/>
          <p:cNvPicPr preferRelativeResize="0"/>
          <p:nvPr/>
        </p:nvPicPr>
        <p:blipFill rotWithShape="1">
          <a:blip r:embed="rId3"/>
          <a:srcRect/>
          <a:stretch>
            <a:fillRect/>
          </a:stretch>
        </p:blipFill>
        <p:spPr>
          <a:xfrm>
            <a:off x="7196100" y="160976"/>
            <a:ext cx="1813591" cy="228488"/>
          </a:xfrm>
          <a:prstGeom prst="rect">
            <a:avLst/>
          </a:prstGeom>
          <a:noFill/>
          <a:ln>
            <a:noFill/>
          </a:ln>
        </p:spPr>
      </p:pic>
      <p:pic>
        <p:nvPicPr>
          <p:cNvPr id="15" name="Google Shape;15;p16"/>
          <p:cNvPicPr preferRelativeResize="0"/>
          <p:nvPr/>
        </p:nvPicPr>
        <p:blipFill rotWithShape="1">
          <a:blip r:embed="rId4"/>
          <a:srcRect/>
          <a:stretch>
            <a:fillRect/>
          </a:stretch>
        </p:blipFill>
        <p:spPr>
          <a:xfrm>
            <a:off x="7196137" y="161013"/>
            <a:ext cx="144641" cy="143712"/>
          </a:xfrm>
          <a:prstGeom prst="rect">
            <a:avLst/>
          </a:prstGeom>
          <a:noFill/>
          <a:ln>
            <a:noFill/>
          </a:ln>
        </p:spPr>
      </p:pic>
      <p:pic>
        <p:nvPicPr>
          <p:cNvPr id="16" name="Google Shape;16;p16"/>
          <p:cNvPicPr preferRelativeResize="0"/>
          <p:nvPr/>
        </p:nvPicPr>
        <p:blipFill rotWithShape="1">
          <a:blip r:embed="rId5"/>
          <a:srcRect/>
          <a:stretch>
            <a:fillRect/>
          </a:stretch>
        </p:blipFill>
        <p:spPr>
          <a:xfrm>
            <a:off x="8334702" y="161069"/>
            <a:ext cx="674987" cy="228362"/>
          </a:xfrm>
          <a:prstGeom prst="rect">
            <a:avLst/>
          </a:prstGeom>
          <a:noFill/>
          <a:ln>
            <a:noFill/>
          </a:ln>
        </p:spPr>
      </p:pic>
      <p:sp>
        <p:nvSpPr>
          <p:cNvPr id="17" name="Google Shape;17;p16"/>
          <p:cNvSpPr txBox="1">
            <a:spLocks noGrp="1"/>
          </p:cNvSpPr>
          <p:nvPr>
            <p:ph type="title"/>
          </p:nvPr>
        </p:nvSpPr>
        <p:spPr>
          <a:xfrm>
            <a:off x="425446" y="498792"/>
            <a:ext cx="3093097" cy="25401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500" b="1" i="0">
                <a:solidFill>
                  <a:srgbClr val="D72E9F"/>
                </a:solidFill>
                <a:latin typeface="Trebuchet MS" panose="020B0603020202020204"/>
                <a:ea typeface="Trebuchet MS" panose="020B0603020202020204"/>
                <a:cs typeface="Trebuchet MS" panose="020B0603020202020204"/>
                <a:sym typeface="Trebuchet MS" panose="020B0603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6"/>
          <p:cNvSpPr txBox="1">
            <a:spLocks noGrp="1"/>
          </p:cNvSpPr>
          <p:nvPr>
            <p:ph type="sldNum" idx="12"/>
          </p:nvPr>
        </p:nvSpPr>
        <p:spPr>
          <a:xfrm>
            <a:off x="8874272" y="4831911"/>
            <a:ext cx="273050" cy="286385"/>
          </a:xfrm>
          <a:prstGeom prst="rect">
            <a:avLst/>
          </a:prstGeom>
          <a:noFill/>
          <a:ln>
            <a:noFill/>
          </a:ln>
        </p:spPr>
        <p:txBody>
          <a:bodyPr spcFirstLastPara="1" wrap="square" lIns="0" tIns="0" rIns="0" bIns="0" anchor="t" anchorCtr="0">
            <a:spAutoFit/>
          </a:bodyPr>
          <a:lstStyle>
            <a:lvl1pPr marL="37465" marR="0" lvl="0"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37465" marR="0" lvl="1"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37465" marR="0" lvl="2"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37465" marR="0" lvl="3"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37465" marR="0" lvl="4"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37465" marR="0" lvl="5"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7465" marR="0" lvl="6"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7465" marR="0" lvl="7"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7465" marR="0" lvl="8"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37465" lvl="0" indent="0" algn="l"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sp>
        <p:nvSpPr>
          <p:cNvPr id="22" name="Google Shape;22;p17"/>
          <p:cNvSpPr txBox="1">
            <a:spLocks noGrp="1"/>
          </p:cNvSpPr>
          <p:nvPr>
            <p:ph type="title"/>
          </p:nvPr>
        </p:nvSpPr>
        <p:spPr>
          <a:xfrm>
            <a:off x="425446" y="498792"/>
            <a:ext cx="3093097" cy="25401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500" b="1" i="0">
                <a:solidFill>
                  <a:srgbClr val="D72E9F"/>
                </a:solidFill>
                <a:latin typeface="Trebuchet MS" panose="020B0603020202020204"/>
                <a:ea typeface="Trebuchet MS" panose="020B0603020202020204"/>
                <a:cs typeface="Trebuchet MS" panose="020B0603020202020204"/>
                <a:sym typeface="Trebuchet MS" panose="020B0603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body" idx="1"/>
          </p:nvPr>
        </p:nvSpPr>
        <p:spPr>
          <a:xfrm>
            <a:off x="425450" y="967411"/>
            <a:ext cx="4450080" cy="296417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100" b="1" i="0">
                <a:solidFill>
                  <a:schemeClr val="dk1"/>
                </a:solidFill>
                <a:latin typeface="Arial" panose="020B0604020202020204"/>
                <a:ea typeface="Arial" panose="020B0604020202020204"/>
                <a:cs typeface="Arial" panose="020B0604020202020204"/>
                <a:sym typeface="Arial" panose="020B0604020202020204"/>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7"/>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7"/>
          <p:cNvSpPr txBox="1">
            <a:spLocks noGrp="1"/>
          </p:cNvSpPr>
          <p:nvPr>
            <p:ph type="sldNum" idx="12"/>
          </p:nvPr>
        </p:nvSpPr>
        <p:spPr>
          <a:xfrm>
            <a:off x="8874272" y="4831911"/>
            <a:ext cx="273050" cy="286385"/>
          </a:xfrm>
          <a:prstGeom prst="rect">
            <a:avLst/>
          </a:prstGeom>
          <a:noFill/>
          <a:ln>
            <a:noFill/>
          </a:ln>
        </p:spPr>
        <p:txBody>
          <a:bodyPr spcFirstLastPara="1" wrap="square" lIns="0" tIns="0" rIns="0" bIns="0" anchor="t" anchorCtr="0">
            <a:spAutoFit/>
          </a:bodyPr>
          <a:lstStyle>
            <a:lvl1pPr marL="37465" marR="0" lvl="0"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37465" marR="0" lvl="1"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37465" marR="0" lvl="2"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37465" marR="0" lvl="3"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37465" marR="0" lvl="4"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37465" marR="0" lvl="5"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7465" marR="0" lvl="6"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7465" marR="0" lvl="7"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7465" marR="0" lvl="8"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37465" lvl="0" indent="0" algn="l"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7"/>
        <p:cNvGrpSpPr/>
        <p:nvPr/>
      </p:nvGrpSpPr>
      <p:grpSpPr>
        <a:xfrm>
          <a:off x="0" y="0"/>
          <a:ext cx="0" cy="0"/>
          <a:chOff x="0" y="0"/>
          <a:chExt cx="0" cy="0"/>
        </a:xfrm>
      </p:grpSpPr>
      <p:sp>
        <p:nvSpPr>
          <p:cNvPr id="28" name="Google Shape;28;p18"/>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8"/>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sldNum" idx="12"/>
          </p:nvPr>
        </p:nvSpPr>
        <p:spPr>
          <a:xfrm>
            <a:off x="8874272" y="4831911"/>
            <a:ext cx="273050" cy="286385"/>
          </a:xfrm>
          <a:prstGeom prst="rect">
            <a:avLst/>
          </a:prstGeom>
          <a:noFill/>
          <a:ln>
            <a:noFill/>
          </a:ln>
        </p:spPr>
        <p:txBody>
          <a:bodyPr spcFirstLastPara="1" wrap="square" lIns="0" tIns="0" rIns="0" bIns="0" anchor="t" anchorCtr="0">
            <a:spAutoFit/>
          </a:bodyPr>
          <a:lstStyle>
            <a:lvl1pPr marL="37465" marR="0" lvl="0"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37465" marR="0" lvl="1"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37465" marR="0" lvl="2"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37465" marR="0" lvl="3"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37465" marR="0" lvl="4"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37465" marR="0" lvl="5"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7465" marR="0" lvl="6"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7465" marR="0" lvl="7"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7465" marR="0" lvl="8"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37465" lvl="0" indent="0" algn="l"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1"/>
        <p:cNvGrpSpPr/>
        <p:nvPr/>
      </p:nvGrpSpPr>
      <p:grpSpPr>
        <a:xfrm>
          <a:off x="0" y="0"/>
          <a:ext cx="0" cy="0"/>
          <a:chOff x="0" y="0"/>
          <a:chExt cx="0" cy="0"/>
        </a:xfrm>
      </p:grpSpPr>
      <p:sp>
        <p:nvSpPr>
          <p:cNvPr id="32" name="Google Shape;32;p19"/>
          <p:cNvSpPr txBox="1">
            <a:spLocks noGrp="1"/>
          </p:cNvSpPr>
          <p:nvPr>
            <p:ph type="ctrTitle"/>
          </p:nvPr>
        </p:nvSpPr>
        <p:spPr>
          <a:xfrm>
            <a:off x="685800" y="1594485"/>
            <a:ext cx="7772400" cy="10801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500" b="1" i="0">
                <a:solidFill>
                  <a:srgbClr val="D72E9F"/>
                </a:solidFill>
                <a:latin typeface="Trebuchet MS" panose="020B0603020202020204"/>
                <a:ea typeface="Trebuchet MS" panose="020B0603020202020204"/>
                <a:cs typeface="Trebuchet MS" panose="020B0603020202020204"/>
                <a:sym typeface="Trebuchet MS" panose="020B0603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ubTitle" idx="1"/>
          </p:nvPr>
        </p:nvSpPr>
        <p:spPr>
          <a:xfrm>
            <a:off x="1371600" y="2880360"/>
            <a:ext cx="6400800" cy="12858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100" b="1" i="0">
                <a:solidFill>
                  <a:schemeClr val="dk1"/>
                </a:solidFill>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9"/>
          <p:cNvSpPr txBox="1">
            <a:spLocks noGrp="1"/>
          </p:cNvSpPr>
          <p:nvPr>
            <p:ph type="sldNum" idx="12"/>
          </p:nvPr>
        </p:nvSpPr>
        <p:spPr>
          <a:xfrm>
            <a:off x="8874272" y="4831911"/>
            <a:ext cx="273050" cy="286385"/>
          </a:xfrm>
          <a:prstGeom prst="rect">
            <a:avLst/>
          </a:prstGeom>
          <a:noFill/>
          <a:ln>
            <a:noFill/>
          </a:ln>
        </p:spPr>
        <p:txBody>
          <a:bodyPr spcFirstLastPara="1" wrap="square" lIns="0" tIns="0" rIns="0" bIns="0" anchor="t" anchorCtr="0">
            <a:spAutoFit/>
          </a:bodyPr>
          <a:lstStyle>
            <a:lvl1pPr marL="37465" marR="0" lvl="0"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37465" marR="0" lvl="1"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37465" marR="0" lvl="2"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37465" marR="0" lvl="3"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37465" marR="0" lvl="4"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37465" marR="0" lvl="5"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7465" marR="0" lvl="6"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7465" marR="0" lvl="7"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7465" marR="0" lvl="8"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37465" lvl="0" indent="0" algn="l"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7"/>
        <p:cNvGrpSpPr/>
        <p:nvPr/>
      </p:nvGrpSpPr>
      <p:grpSpPr>
        <a:xfrm>
          <a:off x="0" y="0"/>
          <a:ext cx="0" cy="0"/>
          <a:chOff x="0" y="0"/>
          <a:chExt cx="0" cy="0"/>
        </a:xfrm>
      </p:grpSpPr>
      <p:sp>
        <p:nvSpPr>
          <p:cNvPr id="38" name="Google Shape;38;p20"/>
          <p:cNvSpPr txBox="1">
            <a:spLocks noGrp="1"/>
          </p:cNvSpPr>
          <p:nvPr>
            <p:ph type="title"/>
          </p:nvPr>
        </p:nvSpPr>
        <p:spPr>
          <a:xfrm>
            <a:off x="425446" y="498792"/>
            <a:ext cx="3093097" cy="25401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500" b="1" i="0">
                <a:solidFill>
                  <a:srgbClr val="D72E9F"/>
                </a:solidFill>
                <a:latin typeface="Trebuchet MS" panose="020B0603020202020204"/>
                <a:ea typeface="Trebuchet MS" panose="020B0603020202020204"/>
                <a:cs typeface="Trebuchet MS" panose="020B0603020202020204"/>
                <a:sym typeface="Trebuchet MS" panose="020B0603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body" idx="1"/>
          </p:nvPr>
        </p:nvSpPr>
        <p:spPr>
          <a:xfrm>
            <a:off x="45720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0" name="Google Shape;40;p20"/>
          <p:cNvSpPr txBox="1">
            <a:spLocks noGrp="1"/>
          </p:cNvSpPr>
          <p:nvPr>
            <p:ph type="body" idx="2"/>
          </p:nvPr>
        </p:nvSpPr>
        <p:spPr>
          <a:xfrm>
            <a:off x="470916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0"/>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0"/>
          <p:cNvSpPr txBox="1">
            <a:spLocks noGrp="1"/>
          </p:cNvSpPr>
          <p:nvPr>
            <p:ph type="sldNum" idx="12"/>
          </p:nvPr>
        </p:nvSpPr>
        <p:spPr>
          <a:xfrm>
            <a:off x="8874272" y="4831911"/>
            <a:ext cx="273050" cy="286385"/>
          </a:xfrm>
          <a:prstGeom prst="rect">
            <a:avLst/>
          </a:prstGeom>
          <a:noFill/>
          <a:ln>
            <a:noFill/>
          </a:ln>
        </p:spPr>
        <p:txBody>
          <a:bodyPr spcFirstLastPara="1" wrap="square" lIns="0" tIns="0" rIns="0" bIns="0" anchor="t" anchorCtr="0">
            <a:spAutoFit/>
          </a:bodyPr>
          <a:lstStyle>
            <a:lvl1pPr marL="37465" marR="0" lvl="0"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37465" marR="0" lvl="1"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37465" marR="0" lvl="2"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37465" marR="0" lvl="3"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37465" marR="0" lvl="4"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37465" marR="0" lvl="5"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7465" marR="0" lvl="6"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7465" marR="0" lvl="7"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7465" marR="0" lvl="8" indent="0" algn="l">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37465" lvl="0" indent="0" algn="l"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46"/>
        <p:cNvGrpSpPr/>
        <p:nvPr/>
      </p:nvGrpSpPr>
      <p:grpSpPr>
        <a:xfrm>
          <a:off x="0" y="0"/>
          <a:ext cx="0" cy="0"/>
          <a:chOff x="0" y="0"/>
          <a:chExt cx="0" cy="0"/>
        </a:xfrm>
      </p:grpSpPr>
      <p:sp>
        <p:nvSpPr>
          <p:cNvPr id="47" name="Google Shape;47;g322cd3cfe0b_0_58"/>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5"/>
          <p:cNvPicPr preferRelativeResize="0"/>
          <p:nvPr/>
        </p:nvPicPr>
        <p:blipFill rotWithShape="1">
          <a:blip r:embed="rId7"/>
          <a:srcRect/>
          <a:stretch>
            <a:fillRect/>
          </a:stretch>
        </p:blipFill>
        <p:spPr>
          <a:xfrm>
            <a:off x="0" y="0"/>
            <a:ext cx="9142738" cy="5142790"/>
          </a:xfrm>
          <a:prstGeom prst="rect">
            <a:avLst/>
          </a:prstGeom>
          <a:noFill/>
          <a:ln>
            <a:noFill/>
          </a:ln>
        </p:spPr>
      </p:pic>
      <p:sp>
        <p:nvSpPr>
          <p:cNvPr id="7" name="Google Shape;7;p15"/>
          <p:cNvSpPr txBox="1">
            <a:spLocks noGrp="1"/>
          </p:cNvSpPr>
          <p:nvPr>
            <p:ph type="title"/>
          </p:nvPr>
        </p:nvSpPr>
        <p:spPr>
          <a:xfrm>
            <a:off x="425446" y="498792"/>
            <a:ext cx="3093097" cy="254012"/>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panose="020B0604020202020204"/>
              <a:buNone/>
              <a:defRPr sz="1500" b="1" i="0" u="none" strike="noStrike" cap="none">
                <a:solidFill>
                  <a:srgbClr val="D72E9F"/>
                </a:solidFill>
                <a:latin typeface="Trebuchet MS" panose="020B0603020202020204"/>
                <a:ea typeface="Trebuchet MS" panose="020B0603020202020204"/>
                <a:cs typeface="Trebuchet MS" panose="020B0603020202020204"/>
                <a:sym typeface="Trebuchet MS" panose="020B0603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p15"/>
          <p:cNvSpPr txBox="1">
            <a:spLocks noGrp="1"/>
          </p:cNvSpPr>
          <p:nvPr>
            <p:ph type="body" idx="1"/>
          </p:nvPr>
        </p:nvSpPr>
        <p:spPr>
          <a:xfrm>
            <a:off x="425450" y="967411"/>
            <a:ext cx="4450080" cy="296417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100" b="1"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15"/>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panose="020B0604020202020204"/>
              <a:buNone/>
              <a:defRPr sz="18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Google Shape;10;p15"/>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15"/>
          <p:cNvSpPr txBox="1">
            <a:spLocks noGrp="1"/>
          </p:cNvSpPr>
          <p:nvPr>
            <p:ph type="sldNum" idx="12"/>
          </p:nvPr>
        </p:nvSpPr>
        <p:spPr>
          <a:xfrm>
            <a:off x="8874272" y="4831911"/>
            <a:ext cx="273050" cy="286385"/>
          </a:xfrm>
          <a:prstGeom prst="rect">
            <a:avLst/>
          </a:prstGeom>
          <a:noFill/>
          <a:ln>
            <a:noFill/>
          </a:ln>
        </p:spPr>
        <p:txBody>
          <a:bodyPr spcFirstLastPara="1" wrap="square" lIns="0" tIns="0" rIns="0" bIns="0" anchor="t" anchorCtr="0">
            <a:spAutoFit/>
          </a:bodyPr>
          <a:lstStyle>
            <a:lvl1pPr marL="37465" marR="0" lvl="0"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37465" marR="0" lvl="1"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37465" marR="0" lvl="2"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37465" marR="0" lvl="3"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37465" marR="0" lvl="4"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37465" marR="0" lvl="5"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7465" marR="0" lvl="6"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7465" marR="0" lvl="7"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7465" marR="0" lvl="8" indent="0" algn="l"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37465" lvl="0" indent="0" algn="l"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Google Shape;45;g322cd3cfe0b_0_56"/>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0.jpe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p:nvPr/>
        </p:nvSpPr>
        <p:spPr>
          <a:xfrm>
            <a:off x="8235898" y="435875"/>
            <a:ext cx="676800" cy="166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000"/>
              <a:buFont typeface="Arial" panose="020B0604020202020204"/>
              <a:buNone/>
            </a:pPr>
            <a:r>
              <a:rPr lang="en-US"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CAMPUS</a:t>
            </a:r>
            <a:endParaRPr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p:txBody>
      </p:sp>
      <p:sp>
        <p:nvSpPr>
          <p:cNvPr id="53" name="Google Shape;53;p1"/>
          <p:cNvSpPr txBox="1">
            <a:spLocks noGrp="1"/>
          </p:cNvSpPr>
          <p:nvPr>
            <p:ph type="title"/>
          </p:nvPr>
        </p:nvSpPr>
        <p:spPr>
          <a:xfrm>
            <a:off x="231514" y="2165100"/>
            <a:ext cx="8437200" cy="662233"/>
          </a:xfrm>
          <a:prstGeom prst="rect">
            <a:avLst/>
          </a:prstGeom>
          <a:noFill/>
          <a:ln>
            <a:noFill/>
          </a:ln>
        </p:spPr>
        <p:txBody>
          <a:bodyPr spcFirstLastPara="1" wrap="square" lIns="0" tIns="12700" rIns="0" bIns="0" anchor="t" anchorCtr="0">
            <a:spAutoFit/>
          </a:bodyPr>
          <a:lstStyle/>
          <a:p>
            <a:pPr algn="ctr">
              <a:lnSpc>
                <a:spcPct val="115000"/>
              </a:lnSpc>
              <a:spcBef>
                <a:spcPts val="1200"/>
              </a:spcBef>
              <a:buSzPts val="1100"/>
            </a:pPr>
            <a:r>
              <a:rPr lang="en-US" sz="2800" dirty="0">
                <a:solidFill>
                  <a:srgbClr val="D72E9F"/>
                </a:solidFill>
              </a:rPr>
              <a:t>Monthly Performance Report – </a:t>
            </a:r>
            <a:r>
              <a:rPr lang="en-GB" sz="2800" dirty="0">
                <a:solidFill>
                  <a:srgbClr val="D72E9F"/>
                </a:solidFill>
              </a:rPr>
              <a:t>May</a:t>
            </a:r>
            <a:r>
              <a:rPr lang="en-US" sz="2800" dirty="0"/>
              <a:t> 2026</a:t>
            </a:r>
            <a:endParaRPr sz="3000" b="0" dirty="0">
              <a:latin typeface="Arial" panose="020B0604020202020204"/>
              <a:ea typeface="Arial" panose="020B0604020202020204"/>
              <a:cs typeface="Arial" panose="020B0604020202020204"/>
              <a:sym typeface="Arial" panose="020B0604020202020204"/>
            </a:endParaRPr>
          </a:p>
        </p:txBody>
      </p:sp>
      <p:sp>
        <p:nvSpPr>
          <p:cNvPr id="54" name="Google Shape;54;p1"/>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a:t>
            </a:fld>
            <a:endParaRPr lang="en-US"/>
          </a:p>
        </p:txBody>
      </p:sp>
      <p:pic>
        <p:nvPicPr>
          <p:cNvPr id="1026" name="Picture 2" descr="Sri Amaraavathi College of Arts &amp; Science">
            <a:extLst>
              <a:ext uri="{FF2B5EF4-FFF2-40B4-BE49-F238E27FC236}">
                <a16:creationId xmlns:a16="http://schemas.microsoft.com/office/drawing/2014/main" id="{B696E194-AB6D-093B-EACC-9E91F88EED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362" y="146383"/>
            <a:ext cx="2285190" cy="5789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
        <p:cNvGrpSpPr/>
        <p:nvPr/>
      </p:nvGrpSpPr>
      <p:grpSpPr>
        <a:xfrm>
          <a:off x="0" y="0"/>
          <a:ext cx="0" cy="0"/>
          <a:chOff x="0" y="0"/>
          <a:chExt cx="0" cy="0"/>
        </a:xfrm>
      </p:grpSpPr>
      <p:pic>
        <p:nvPicPr>
          <p:cNvPr id="61" name="Google Shape;61;g322cd3cfe0b_0_44"/>
          <p:cNvPicPr preferRelativeResize="0"/>
          <p:nvPr/>
        </p:nvPicPr>
        <p:blipFill rotWithShape="1">
          <a:blip r:embed="rId3"/>
          <a:srcRect/>
          <a:stretch>
            <a:fillRect/>
          </a:stretch>
        </p:blipFill>
        <p:spPr>
          <a:xfrm>
            <a:off x="0" y="0"/>
            <a:ext cx="9142738" cy="5142789"/>
          </a:xfrm>
          <a:prstGeom prst="rect">
            <a:avLst/>
          </a:prstGeom>
          <a:noFill/>
          <a:ln>
            <a:noFill/>
          </a:ln>
        </p:spPr>
      </p:pic>
      <p:sp>
        <p:nvSpPr>
          <p:cNvPr id="62" name="Google Shape;62;g322cd3cfe0b_0_44"/>
          <p:cNvSpPr/>
          <p:nvPr/>
        </p:nvSpPr>
        <p:spPr>
          <a:xfrm>
            <a:off x="7796172" y="76200"/>
            <a:ext cx="1233600" cy="2577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63;g322cd3cfe0b_0_44"/>
          <p:cNvSpPr/>
          <p:nvPr/>
        </p:nvSpPr>
        <p:spPr>
          <a:xfrm>
            <a:off x="438159" y="519125"/>
            <a:ext cx="3982800" cy="281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72E9F"/>
              </a:buClr>
              <a:buSzPts val="1500"/>
              <a:buFont typeface="Public Sans"/>
              <a:buNone/>
            </a:pPr>
            <a:r>
              <a:rPr lang="en-US" sz="1500" b="1" i="0" u="none" strike="noStrike" cap="none">
                <a:solidFill>
                  <a:srgbClr val="D72E9F"/>
                </a:solidFill>
                <a:latin typeface="Public Sans"/>
                <a:ea typeface="Public Sans"/>
                <a:cs typeface="Public Sans"/>
                <a:sym typeface="Public Sans"/>
              </a:rPr>
              <a:t>Table of Contents</a:t>
            </a:r>
            <a:endParaRPr sz="15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g322cd3cfe0b_0_44"/>
          <p:cNvSpPr/>
          <p:nvPr/>
        </p:nvSpPr>
        <p:spPr>
          <a:xfrm>
            <a:off x="438146" y="814388"/>
            <a:ext cx="1043100" cy="57000"/>
          </a:xfrm>
          <a:prstGeom prst="rect">
            <a:avLst/>
          </a:prstGeom>
          <a:solidFill>
            <a:srgbClr val="D72E9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65;g322cd3cfe0b_0_44"/>
          <p:cNvSpPr/>
          <p:nvPr/>
        </p:nvSpPr>
        <p:spPr>
          <a:xfrm>
            <a:off x="438146" y="814388"/>
            <a:ext cx="504900" cy="57000"/>
          </a:xfrm>
          <a:prstGeom prst="rect">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aphicFrame>
        <p:nvGraphicFramePr>
          <p:cNvPr id="66" name="Google Shape;66;g322cd3cfe0b_0_44"/>
          <p:cNvGraphicFramePr/>
          <p:nvPr>
            <p:extLst>
              <p:ext uri="{D42A27DB-BD31-4B8C-83A1-F6EECF244321}">
                <p14:modId xmlns:p14="http://schemas.microsoft.com/office/powerpoint/2010/main" val="866618921"/>
              </p:ext>
            </p:extLst>
          </p:nvPr>
        </p:nvGraphicFramePr>
        <p:xfrm>
          <a:off x="981629" y="996218"/>
          <a:ext cx="7107775" cy="3687750"/>
        </p:xfrm>
        <a:graphic>
          <a:graphicData uri="http://schemas.openxmlformats.org/drawingml/2006/table">
            <a:tbl>
              <a:tblPr>
                <a:noFill/>
                <a:tableStyleId>{6230B800-8133-4549-80BD-594ECD9E2577}</a:tableStyleId>
              </a:tblPr>
              <a:tblGrid>
                <a:gridCol w="3988325">
                  <a:extLst>
                    <a:ext uri="{9D8B030D-6E8A-4147-A177-3AD203B41FA5}">
                      <a16:colId xmlns:a16="http://schemas.microsoft.com/office/drawing/2014/main" val="20000"/>
                    </a:ext>
                  </a:extLst>
                </a:gridCol>
                <a:gridCol w="311945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rgbClr val="D72E9F"/>
                          </a:solidFill>
                        </a:rPr>
                        <a:t>Title</a:t>
                      </a:r>
                      <a:endParaRPr sz="1000" b="1" u="none" strike="noStrike" cap="none" dirty="0">
                        <a:solidFill>
                          <a:srgbClr val="D72E9F"/>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a:solidFill>
                            <a:srgbClr val="D72E9F"/>
                          </a:solidFill>
                        </a:rPr>
                        <a:t>Page Number</a:t>
                      </a:r>
                      <a:endParaRPr sz="1000" b="1" u="none" strike="noStrike" cap="none">
                        <a:solidFill>
                          <a:srgbClr val="D72E9F"/>
                        </a:solidFill>
                      </a:endParaRPr>
                    </a:p>
                  </a:txBody>
                  <a:tcPr marL="91425" marR="91425" marT="91425" marB="91425" anchor="ctr"/>
                </a:tc>
                <a:extLst>
                  <a:ext uri="{0D108BD9-81ED-4DB2-BD59-A6C34878D82A}">
                    <a16:rowId xmlns:a16="http://schemas.microsoft.com/office/drawing/2014/main" val="10000"/>
                  </a:ext>
                </a:extLst>
              </a:tr>
              <a:tr h="302950">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US" sz="1000" b="1" u="none" strike="noStrike" cap="none" dirty="0">
                          <a:solidFill>
                            <a:srgbClr val="D72E9F"/>
                          </a:solidFill>
                        </a:rPr>
                        <a:t>B.C.A – II Year</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US" sz="1000" b="1" u="none" strike="noStrike" cap="none" dirty="0">
                          <a:solidFill>
                            <a:schemeClr val="dk1"/>
                          </a:solidFill>
                        </a:rPr>
                        <a:t>5</a:t>
                      </a:r>
                      <a:endParaRPr sz="1000" b="1" u="none" strike="noStrike" cap="none" dirty="0">
                        <a:solidFill>
                          <a:schemeClr val="dk1"/>
                        </a:solidFill>
                      </a:endParaRPr>
                    </a:p>
                  </a:txBody>
                  <a:tcPr marL="91425" marR="91425" marT="91425" marB="91425" anchor="ctr"/>
                </a:tc>
                <a:extLst>
                  <a:ext uri="{0D108BD9-81ED-4DB2-BD59-A6C34878D82A}">
                    <a16:rowId xmlns:a16="http://schemas.microsoft.com/office/drawing/2014/main" val="10001"/>
                  </a:ext>
                </a:extLst>
              </a:tr>
              <a:tr h="302950">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GB" sz="1000" b="1" u="none" strike="noStrike" cap="none" dirty="0">
                          <a:solidFill>
                            <a:schemeClr val="dk1"/>
                          </a:solidFill>
                        </a:rPr>
                        <a:t>Overall Attendance</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US" sz="1000" b="1" u="none" strike="noStrike" cap="none" dirty="0">
                          <a:solidFill>
                            <a:schemeClr val="dk1"/>
                          </a:solidFill>
                        </a:rPr>
                        <a:t>6</a:t>
                      </a:r>
                      <a:endParaRPr sz="1000" b="1" u="none" strike="noStrike" cap="none" dirty="0">
                        <a:solidFill>
                          <a:schemeClr val="dk1"/>
                        </a:solidFill>
                      </a:endParaRPr>
                    </a:p>
                  </a:txBody>
                  <a:tcPr marL="91425" marR="91425" marT="91425" marB="91425" anchor="ctr"/>
                </a:tc>
                <a:extLst>
                  <a:ext uri="{0D108BD9-81ED-4DB2-BD59-A6C34878D82A}">
                    <a16:rowId xmlns:a16="http://schemas.microsoft.com/office/drawing/2014/main" val="10002"/>
                  </a:ext>
                </a:extLst>
              </a:tr>
              <a:tr h="30295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Technical Evaluation</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7</a:t>
                      </a:r>
                      <a:endParaRPr sz="1000" b="1" u="none" strike="noStrike" cap="none" dirty="0">
                        <a:solidFill>
                          <a:schemeClr val="dk1"/>
                        </a:solidFill>
                      </a:endParaRPr>
                    </a:p>
                  </a:txBody>
                  <a:tcPr marL="91425" marR="91425" marT="91425" marB="91425" anchor="ctr"/>
                </a:tc>
                <a:extLst>
                  <a:ext uri="{0D108BD9-81ED-4DB2-BD59-A6C34878D82A}">
                    <a16:rowId xmlns:a16="http://schemas.microsoft.com/office/drawing/2014/main" val="10003"/>
                  </a:ext>
                </a:extLst>
              </a:tr>
              <a:tr h="30295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a:solidFill>
                            <a:schemeClr val="dk1"/>
                          </a:solidFill>
                        </a:rPr>
                        <a:t>Overall Communication Level</a:t>
                      </a:r>
                      <a:endParaRPr sz="1000" b="1" u="none" strike="noStrike" cap="none">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9</a:t>
                      </a:r>
                      <a:endParaRPr sz="1000" b="1" u="none" strike="noStrike" cap="none" dirty="0">
                        <a:solidFill>
                          <a:schemeClr val="dk1"/>
                        </a:solidFill>
                      </a:endParaRPr>
                    </a:p>
                  </a:txBody>
                  <a:tcPr marL="91425" marR="91425" marT="91425" marB="91425" anchor="ctr"/>
                </a:tc>
                <a:extLst>
                  <a:ext uri="{0D108BD9-81ED-4DB2-BD59-A6C34878D82A}">
                    <a16:rowId xmlns:a16="http://schemas.microsoft.com/office/drawing/2014/main" val="10004"/>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Academic performance</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US" sz="1000" b="1" u="none" strike="noStrike" cap="none" dirty="0">
                          <a:solidFill>
                            <a:schemeClr val="dk1"/>
                          </a:solidFill>
                        </a:rPr>
                        <a:t>10</a:t>
                      </a:r>
                    </a:p>
                  </a:txBody>
                  <a:tcPr marL="91425" marR="91425" marT="91425" marB="91425" anchor="ctr"/>
                </a:tc>
                <a:extLst>
                  <a:ext uri="{0D108BD9-81ED-4DB2-BD59-A6C34878D82A}">
                    <a16:rowId xmlns:a16="http://schemas.microsoft.com/office/drawing/2014/main" val="10005"/>
                  </a:ext>
                </a:extLst>
              </a:tr>
              <a:tr h="0">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GB" sz="1000" b="1" u="none" strike="noStrike" cap="none" dirty="0">
                          <a:solidFill>
                            <a:srgbClr val="D72E9F"/>
                          </a:solidFill>
                        </a:rPr>
                        <a:t>B.C.A – I Year Batch </a:t>
                      </a:r>
                      <a:endParaRPr lang="en-GB"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GB" altLang="en-US" sz="1000" b="1" u="none" strike="noStrike" cap="none" dirty="0">
                          <a:solidFill>
                            <a:schemeClr val="dk1"/>
                          </a:solidFill>
                        </a:rPr>
                        <a:t>11</a:t>
                      </a:r>
                    </a:p>
                  </a:txBody>
                  <a:tcPr marL="91425" marR="91425" marT="91425" marB="91425" anchor="ctr"/>
                </a:tc>
                <a:extLst>
                  <a:ext uri="{0D108BD9-81ED-4DB2-BD59-A6C34878D82A}">
                    <a16:rowId xmlns:a16="http://schemas.microsoft.com/office/drawing/2014/main" val="10006"/>
                  </a:ext>
                </a:extLst>
              </a:tr>
              <a:tr h="0">
                <a:tc>
                  <a:txBody>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panose="020B0604020202020204"/>
                        <a:buNone/>
                        <a:defRPr/>
                      </a:pPr>
                      <a:r>
                        <a:rPr lang="en-GB" sz="1000" b="1" u="none" strike="noStrike" cap="none" dirty="0">
                          <a:solidFill>
                            <a:schemeClr val="dk1"/>
                          </a:solidFill>
                        </a:rPr>
                        <a:t>Overall Attendance</a:t>
                      </a: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12</a:t>
                      </a:r>
                      <a:endParaRPr sz="1000" b="1" u="none" strike="noStrike" cap="none" dirty="0">
                        <a:solidFill>
                          <a:schemeClr val="dk1"/>
                        </a:solidFill>
                      </a:endParaRPr>
                    </a:p>
                  </a:txBody>
                  <a:tcPr marL="91425" marR="91425" marT="91425" marB="91425" anchor="ctr"/>
                </a:tc>
                <a:extLst>
                  <a:ext uri="{0D108BD9-81ED-4DB2-BD59-A6C34878D82A}">
                    <a16:rowId xmlns:a16="http://schemas.microsoft.com/office/drawing/2014/main" val="10007"/>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Technical Evaluation</a:t>
                      </a:r>
                      <a:endParaRPr sz="1000" b="1" u="none" strike="noStrike" cap="none">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US" sz="1000" b="1" u="none" strike="noStrike" cap="none" dirty="0">
                          <a:solidFill>
                            <a:schemeClr val="dk1"/>
                          </a:solidFill>
                        </a:rPr>
                        <a:t>13</a:t>
                      </a:r>
                    </a:p>
                  </a:txBody>
                  <a:tcPr marL="91425" marR="91425" marT="91425" marB="91425" anchor="ctr"/>
                </a:tc>
                <a:extLst>
                  <a:ext uri="{0D108BD9-81ED-4DB2-BD59-A6C34878D82A}">
                    <a16:rowId xmlns:a16="http://schemas.microsoft.com/office/drawing/2014/main" val="10008"/>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a:solidFill>
                            <a:schemeClr val="dk1"/>
                          </a:solidFill>
                        </a:rPr>
                        <a:t>Overall Communication Level</a:t>
                      </a:r>
                      <a:endParaRPr sz="1000" b="1" u="none" strike="noStrike" cap="none">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US" sz="1000" b="1" u="none" strike="noStrike" cap="none" dirty="0">
                          <a:solidFill>
                            <a:schemeClr val="dk1"/>
                          </a:solidFill>
                        </a:rPr>
                        <a:t>15</a:t>
                      </a:r>
                    </a:p>
                  </a:txBody>
                  <a:tcPr marL="91425" marR="91425" marT="91425" marB="91425" anchor="ctr"/>
                </a:tc>
                <a:extLst>
                  <a:ext uri="{0D108BD9-81ED-4DB2-BD59-A6C34878D82A}">
                    <a16:rowId xmlns:a16="http://schemas.microsoft.com/office/drawing/2014/main" val="10009"/>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Academic performance</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16</a:t>
                      </a:r>
                      <a:endParaRPr sz="1000" b="1" u="none" strike="noStrike" cap="none" dirty="0">
                        <a:solidFill>
                          <a:schemeClr val="dk1"/>
                        </a:solidFill>
                      </a:endParaRPr>
                    </a:p>
                  </a:txBody>
                  <a:tcPr marL="91425" marR="91425" marT="91425" marB="91425" anchor="ctr"/>
                </a:tc>
                <a:extLst>
                  <a:ext uri="{0D108BD9-81ED-4DB2-BD59-A6C34878D82A}">
                    <a16:rowId xmlns:a16="http://schemas.microsoft.com/office/drawing/2014/main" val="10010"/>
                  </a:ext>
                </a:extLst>
              </a:tr>
            </a:tbl>
          </a:graphicData>
        </a:graphic>
      </p:graphicFrame>
      <p:sp>
        <p:nvSpPr>
          <p:cNvPr id="67" name="Google Shape;67;g322cd3cfe0b_0_44"/>
          <p:cNvSpPr txBox="1">
            <a:spLocks noGrp="1"/>
          </p:cNvSpPr>
          <p:nvPr>
            <p:ph type="sldNum" idx="12"/>
          </p:nvPr>
        </p:nvSpPr>
        <p:spPr>
          <a:xfrm>
            <a:off x="8595309" y="4797376"/>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a:t>
            </a:fld>
            <a:endParaRPr lang="en-US"/>
          </a:p>
        </p:txBody>
      </p:sp>
      <p:pic>
        <p:nvPicPr>
          <p:cNvPr id="2" name="Picture 2" descr="Sri Amaraavathi College of Arts &amp; Science">
            <a:extLst>
              <a:ext uri="{FF2B5EF4-FFF2-40B4-BE49-F238E27FC236}">
                <a16:creationId xmlns:a16="http://schemas.microsoft.com/office/drawing/2014/main" id="{A6A972B7-79EC-3781-A4A6-8DE63A89EF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207" y="60304"/>
            <a:ext cx="1853352" cy="469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1" name="Google Shape;61;g322cd3cfe0b_0_44"/>
          <p:cNvPicPr preferRelativeResize="0"/>
          <p:nvPr/>
        </p:nvPicPr>
        <p:blipFill rotWithShape="1">
          <a:blip r:embed="rId3"/>
          <a:srcRect/>
          <a:stretch>
            <a:fillRect/>
          </a:stretch>
        </p:blipFill>
        <p:spPr>
          <a:xfrm>
            <a:off x="0" y="0"/>
            <a:ext cx="9142738" cy="5142789"/>
          </a:xfrm>
          <a:prstGeom prst="rect">
            <a:avLst/>
          </a:prstGeom>
          <a:noFill/>
          <a:ln>
            <a:noFill/>
          </a:ln>
        </p:spPr>
      </p:pic>
      <p:sp>
        <p:nvSpPr>
          <p:cNvPr id="62" name="Google Shape;62;g322cd3cfe0b_0_44"/>
          <p:cNvSpPr/>
          <p:nvPr/>
        </p:nvSpPr>
        <p:spPr>
          <a:xfrm>
            <a:off x="7796172" y="76200"/>
            <a:ext cx="1233600" cy="2577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63;g322cd3cfe0b_0_44"/>
          <p:cNvSpPr/>
          <p:nvPr/>
        </p:nvSpPr>
        <p:spPr>
          <a:xfrm>
            <a:off x="438159" y="519125"/>
            <a:ext cx="3982800" cy="281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72E9F"/>
              </a:buClr>
              <a:buSzPts val="1500"/>
              <a:buFont typeface="Public Sans"/>
              <a:buNone/>
            </a:pPr>
            <a:r>
              <a:rPr lang="en-US" sz="1500" b="1" i="0" u="none" strike="noStrike" cap="none">
                <a:solidFill>
                  <a:srgbClr val="D72E9F"/>
                </a:solidFill>
                <a:latin typeface="Public Sans"/>
                <a:ea typeface="Public Sans"/>
                <a:cs typeface="Public Sans"/>
                <a:sym typeface="Public Sans"/>
              </a:rPr>
              <a:t>Table of Contents</a:t>
            </a:r>
            <a:endParaRPr sz="15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g322cd3cfe0b_0_44"/>
          <p:cNvSpPr/>
          <p:nvPr/>
        </p:nvSpPr>
        <p:spPr>
          <a:xfrm>
            <a:off x="438146" y="814388"/>
            <a:ext cx="1043100" cy="57000"/>
          </a:xfrm>
          <a:prstGeom prst="rect">
            <a:avLst/>
          </a:prstGeom>
          <a:solidFill>
            <a:srgbClr val="D72E9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65;g322cd3cfe0b_0_44"/>
          <p:cNvSpPr/>
          <p:nvPr/>
        </p:nvSpPr>
        <p:spPr>
          <a:xfrm>
            <a:off x="438146" y="814388"/>
            <a:ext cx="504900" cy="57000"/>
          </a:xfrm>
          <a:prstGeom prst="rect">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aphicFrame>
        <p:nvGraphicFramePr>
          <p:cNvPr id="66" name="Google Shape;66;g322cd3cfe0b_0_44"/>
          <p:cNvGraphicFramePr/>
          <p:nvPr>
            <p:extLst>
              <p:ext uri="{D42A27DB-BD31-4B8C-83A1-F6EECF244321}">
                <p14:modId xmlns:p14="http://schemas.microsoft.com/office/powerpoint/2010/main" val="3883631447"/>
              </p:ext>
            </p:extLst>
          </p:nvPr>
        </p:nvGraphicFramePr>
        <p:xfrm>
          <a:off x="995483" y="1107050"/>
          <a:ext cx="7107775" cy="3687750"/>
        </p:xfrm>
        <a:graphic>
          <a:graphicData uri="http://schemas.openxmlformats.org/drawingml/2006/table">
            <a:tbl>
              <a:tblPr>
                <a:noFill/>
                <a:tableStyleId>{6230B800-8133-4549-80BD-594ECD9E2577}</a:tableStyleId>
              </a:tblPr>
              <a:tblGrid>
                <a:gridCol w="3988325">
                  <a:extLst>
                    <a:ext uri="{9D8B030D-6E8A-4147-A177-3AD203B41FA5}">
                      <a16:colId xmlns:a16="http://schemas.microsoft.com/office/drawing/2014/main" val="20000"/>
                    </a:ext>
                  </a:extLst>
                </a:gridCol>
                <a:gridCol w="311945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rgbClr val="D72E9F"/>
                          </a:solidFill>
                        </a:rPr>
                        <a:t>Title</a:t>
                      </a:r>
                      <a:endParaRPr sz="1000" b="1" u="none" strike="noStrike" cap="none" dirty="0">
                        <a:solidFill>
                          <a:srgbClr val="D72E9F"/>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a:solidFill>
                            <a:srgbClr val="D72E9F"/>
                          </a:solidFill>
                        </a:rPr>
                        <a:t>Page Number</a:t>
                      </a:r>
                      <a:endParaRPr sz="1000" b="1" u="none" strike="noStrike" cap="none">
                        <a:solidFill>
                          <a:srgbClr val="D72E9F"/>
                        </a:solidFill>
                      </a:endParaRPr>
                    </a:p>
                  </a:txBody>
                  <a:tcPr marL="91425" marR="91425" marT="91425" marB="91425" anchor="ctr"/>
                </a:tc>
                <a:extLst>
                  <a:ext uri="{0D108BD9-81ED-4DB2-BD59-A6C34878D82A}">
                    <a16:rowId xmlns:a16="http://schemas.microsoft.com/office/drawing/2014/main" val="10000"/>
                  </a:ext>
                </a:extLst>
              </a:tr>
              <a:tr h="302950">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US" sz="1000" b="1" u="none" strike="noStrike" cap="none" dirty="0">
                          <a:solidFill>
                            <a:srgbClr val="D72E9F"/>
                          </a:solidFill>
                        </a:rPr>
                        <a:t>B.Sc. (AIML) – I Year Batch </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GB" altLang="en-US" sz="1000" b="1" u="none" strike="noStrike" cap="none" dirty="0">
                          <a:solidFill>
                            <a:schemeClr val="dk1"/>
                          </a:solidFill>
                        </a:rPr>
                        <a:t>17</a:t>
                      </a:r>
                    </a:p>
                  </a:txBody>
                  <a:tcPr marL="91425" marR="91425" marT="91425" marB="91425" anchor="ctr"/>
                </a:tc>
                <a:extLst>
                  <a:ext uri="{0D108BD9-81ED-4DB2-BD59-A6C34878D82A}">
                    <a16:rowId xmlns:a16="http://schemas.microsoft.com/office/drawing/2014/main" val="10001"/>
                  </a:ext>
                </a:extLst>
              </a:tr>
              <a:tr h="30295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sz="1000" b="1" u="none" strike="noStrike" cap="none" dirty="0">
                          <a:solidFill>
                            <a:schemeClr val="dk1"/>
                          </a:solidFill>
                        </a:rPr>
                        <a:t>Overall Attendance</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18</a:t>
                      </a:r>
                      <a:endParaRPr sz="1000" b="1" u="none" strike="noStrike" cap="none" dirty="0">
                        <a:solidFill>
                          <a:schemeClr val="dk1"/>
                        </a:solidFill>
                      </a:endParaRPr>
                    </a:p>
                  </a:txBody>
                  <a:tcPr marL="91425" marR="91425" marT="91425" marB="91425" anchor="ctr"/>
                </a:tc>
                <a:extLst>
                  <a:ext uri="{0D108BD9-81ED-4DB2-BD59-A6C34878D82A}">
                    <a16:rowId xmlns:a16="http://schemas.microsoft.com/office/drawing/2014/main" val="10002"/>
                  </a:ext>
                </a:extLst>
              </a:tr>
              <a:tr h="30295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Technical Evaluation</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US" sz="1000" b="1" u="none" strike="noStrike" cap="none" dirty="0">
                          <a:solidFill>
                            <a:schemeClr val="dk1"/>
                          </a:solidFill>
                        </a:rPr>
                        <a:t>19</a:t>
                      </a:r>
                    </a:p>
                  </a:txBody>
                  <a:tcPr marL="91425" marR="91425" marT="91425" marB="91425" anchor="ctr"/>
                </a:tc>
                <a:extLst>
                  <a:ext uri="{0D108BD9-81ED-4DB2-BD59-A6C34878D82A}">
                    <a16:rowId xmlns:a16="http://schemas.microsoft.com/office/drawing/2014/main" val="10003"/>
                  </a:ext>
                </a:extLst>
              </a:tr>
              <a:tr h="30295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a:solidFill>
                            <a:schemeClr val="dk1"/>
                          </a:solidFill>
                        </a:rPr>
                        <a:t>Overall Communication Level</a:t>
                      </a:r>
                      <a:endParaRPr sz="1000" b="1" u="none" strike="noStrike" cap="none">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US" sz="1000" b="1" u="none" strike="noStrike" cap="none" dirty="0">
                          <a:solidFill>
                            <a:schemeClr val="dk1"/>
                          </a:solidFill>
                        </a:rPr>
                        <a:t>21</a:t>
                      </a:r>
                    </a:p>
                  </a:txBody>
                  <a:tcPr marL="91425" marR="91425" marT="91425" marB="91425" anchor="ctr"/>
                </a:tc>
                <a:extLst>
                  <a:ext uri="{0D108BD9-81ED-4DB2-BD59-A6C34878D82A}">
                    <a16:rowId xmlns:a16="http://schemas.microsoft.com/office/drawing/2014/main" val="10004"/>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Academic performance</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US" sz="1000" b="1" u="none" strike="noStrike" cap="none" dirty="0">
                          <a:solidFill>
                            <a:schemeClr val="dk1"/>
                          </a:solidFill>
                        </a:rPr>
                        <a:t>22</a:t>
                      </a:r>
                    </a:p>
                  </a:txBody>
                  <a:tcPr marL="91425" marR="91425" marT="91425" marB="91425" anchor="ctr"/>
                </a:tc>
                <a:extLst>
                  <a:ext uri="{0D108BD9-81ED-4DB2-BD59-A6C34878D82A}">
                    <a16:rowId xmlns:a16="http://schemas.microsoft.com/office/drawing/2014/main" val="10005"/>
                  </a:ext>
                </a:extLst>
              </a:tr>
              <a:tr h="0">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US" sz="1000" b="1" u="none" strike="noStrike" cap="none" dirty="0">
                          <a:solidFill>
                            <a:srgbClr val="D72E9F"/>
                          </a:solidFill>
                        </a:rPr>
                        <a:t>B. Com (Fintech) – I Year Batch</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000"/>
                        <a:buFont typeface="Arial" panose="020B0604020202020204"/>
                        <a:buNone/>
                      </a:pPr>
                      <a:r>
                        <a:rPr lang="en-GB" altLang="en-US" sz="1000" b="1" u="none" strike="noStrike" cap="none" dirty="0">
                          <a:solidFill>
                            <a:schemeClr val="dk1"/>
                          </a:solidFill>
                        </a:rPr>
                        <a:t>23</a:t>
                      </a:r>
                    </a:p>
                  </a:txBody>
                  <a:tcPr marL="91425" marR="91425" marT="91425" marB="91425" anchor="ctr"/>
                </a:tc>
                <a:extLst>
                  <a:ext uri="{0D108BD9-81ED-4DB2-BD59-A6C34878D82A}">
                    <a16:rowId xmlns:a16="http://schemas.microsoft.com/office/drawing/2014/main" val="10006"/>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sz="1000" b="1" u="none" strike="noStrike" cap="none" dirty="0">
                          <a:solidFill>
                            <a:schemeClr val="dk1"/>
                          </a:solidFill>
                        </a:rPr>
                        <a:t>Overall Attendance</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24</a:t>
                      </a:r>
                      <a:endParaRPr sz="1000" b="1" u="none" strike="noStrike" cap="none" dirty="0">
                        <a:solidFill>
                          <a:schemeClr val="dk1"/>
                        </a:solidFill>
                      </a:endParaRPr>
                    </a:p>
                  </a:txBody>
                  <a:tcPr marL="91425" marR="91425" marT="91425" marB="91425" anchor="ctr"/>
                </a:tc>
                <a:extLst>
                  <a:ext uri="{0D108BD9-81ED-4DB2-BD59-A6C34878D82A}">
                    <a16:rowId xmlns:a16="http://schemas.microsoft.com/office/drawing/2014/main" val="10007"/>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Technical Evaluation</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IN" sz="1000" b="1" u="none" strike="noStrike" cap="none" dirty="0">
                          <a:solidFill>
                            <a:schemeClr val="dk1"/>
                          </a:solidFill>
                        </a:rPr>
                        <a:t>25</a:t>
                      </a:r>
                    </a:p>
                  </a:txBody>
                  <a:tcPr marL="91425" marR="91425" marT="91425" marB="91425" anchor="ctr"/>
                </a:tc>
                <a:extLst>
                  <a:ext uri="{0D108BD9-81ED-4DB2-BD59-A6C34878D82A}">
                    <a16:rowId xmlns:a16="http://schemas.microsoft.com/office/drawing/2014/main" val="10008"/>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Overall Communication Level</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IN" sz="1000" b="1" u="none" strike="noStrike" cap="none" dirty="0">
                          <a:solidFill>
                            <a:schemeClr val="dk1"/>
                          </a:solidFill>
                        </a:rPr>
                        <a:t>27</a:t>
                      </a:r>
                    </a:p>
                  </a:txBody>
                  <a:tcPr marL="91425" marR="91425" marT="91425" marB="91425" anchor="ctr"/>
                </a:tc>
                <a:extLst>
                  <a:ext uri="{0D108BD9-81ED-4DB2-BD59-A6C34878D82A}">
                    <a16:rowId xmlns:a16="http://schemas.microsoft.com/office/drawing/2014/main" val="10009"/>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chemeClr val="dk1"/>
                          </a:solidFill>
                        </a:rPr>
                        <a:t>Academic performance</a:t>
                      </a:r>
                      <a:endParaRPr sz="1000" b="1" u="none" strike="noStrike" cap="none" dirty="0">
                        <a:solidFill>
                          <a:schemeClr val="dk1"/>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US" sz="1000" b="1" u="none" strike="noStrike" cap="none" dirty="0">
                          <a:solidFill>
                            <a:schemeClr val="dk1"/>
                          </a:solidFill>
                        </a:rPr>
                        <a:t>28</a:t>
                      </a:r>
                    </a:p>
                  </a:txBody>
                  <a:tcPr marL="91425" marR="91425" marT="91425" marB="91425" anchor="ctr"/>
                </a:tc>
                <a:extLst>
                  <a:ext uri="{0D108BD9-81ED-4DB2-BD59-A6C34878D82A}">
                    <a16:rowId xmlns:a16="http://schemas.microsoft.com/office/drawing/2014/main" val="10010"/>
                  </a:ext>
                </a:extLst>
              </a:tr>
            </a:tbl>
          </a:graphicData>
        </a:graphic>
      </p:graphicFrame>
      <p:sp>
        <p:nvSpPr>
          <p:cNvPr id="67" name="Google Shape;67;g322cd3cfe0b_0_44"/>
          <p:cNvSpPr txBox="1">
            <a:spLocks noGrp="1"/>
          </p:cNvSpPr>
          <p:nvPr>
            <p:ph type="sldNum" idx="12"/>
          </p:nvPr>
        </p:nvSpPr>
        <p:spPr>
          <a:xfrm>
            <a:off x="8595309" y="4797376"/>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3</a:t>
            </a:fld>
            <a:endParaRPr lang="en-US"/>
          </a:p>
        </p:txBody>
      </p:sp>
      <p:pic>
        <p:nvPicPr>
          <p:cNvPr id="4" name="Picture 2" descr="Sri Amaraavathi College of Arts &amp; Science">
            <a:extLst>
              <a:ext uri="{FF2B5EF4-FFF2-40B4-BE49-F238E27FC236}">
                <a16:creationId xmlns:a16="http://schemas.microsoft.com/office/drawing/2014/main" id="{BD6606BA-4E92-FFD6-BB80-B7A79C71C2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207" y="60304"/>
            <a:ext cx="1853352" cy="469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1" name="Google Shape;61;g322cd3cfe0b_0_44"/>
          <p:cNvPicPr preferRelativeResize="0"/>
          <p:nvPr/>
        </p:nvPicPr>
        <p:blipFill rotWithShape="1">
          <a:blip r:embed="rId3"/>
          <a:srcRect/>
          <a:stretch>
            <a:fillRect/>
          </a:stretch>
        </p:blipFill>
        <p:spPr>
          <a:xfrm>
            <a:off x="0" y="0"/>
            <a:ext cx="9142738" cy="5142789"/>
          </a:xfrm>
          <a:prstGeom prst="rect">
            <a:avLst/>
          </a:prstGeom>
          <a:noFill/>
          <a:ln>
            <a:noFill/>
          </a:ln>
        </p:spPr>
      </p:pic>
      <p:sp>
        <p:nvSpPr>
          <p:cNvPr id="62" name="Google Shape;62;g322cd3cfe0b_0_44"/>
          <p:cNvSpPr/>
          <p:nvPr/>
        </p:nvSpPr>
        <p:spPr>
          <a:xfrm>
            <a:off x="7796172" y="76200"/>
            <a:ext cx="1233600" cy="2577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63;g322cd3cfe0b_0_44"/>
          <p:cNvSpPr/>
          <p:nvPr/>
        </p:nvSpPr>
        <p:spPr>
          <a:xfrm>
            <a:off x="438159" y="519125"/>
            <a:ext cx="3982800" cy="281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D72E9F"/>
              </a:buClr>
              <a:buSzPts val="1500"/>
              <a:buFont typeface="Public Sans"/>
              <a:buNone/>
            </a:pPr>
            <a:r>
              <a:rPr lang="en-US" sz="1500" b="1" i="0" u="none" strike="noStrike" cap="none">
                <a:solidFill>
                  <a:srgbClr val="D72E9F"/>
                </a:solidFill>
                <a:latin typeface="Public Sans"/>
                <a:ea typeface="Public Sans"/>
                <a:cs typeface="Public Sans"/>
                <a:sym typeface="Public Sans"/>
              </a:rPr>
              <a:t>Table of Contents</a:t>
            </a:r>
            <a:endParaRPr sz="15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g322cd3cfe0b_0_44"/>
          <p:cNvSpPr/>
          <p:nvPr/>
        </p:nvSpPr>
        <p:spPr>
          <a:xfrm>
            <a:off x="438146" y="814388"/>
            <a:ext cx="1043100" cy="57000"/>
          </a:xfrm>
          <a:prstGeom prst="rect">
            <a:avLst/>
          </a:prstGeom>
          <a:solidFill>
            <a:srgbClr val="D72E9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65;g322cd3cfe0b_0_44"/>
          <p:cNvSpPr/>
          <p:nvPr/>
        </p:nvSpPr>
        <p:spPr>
          <a:xfrm>
            <a:off x="438146" y="814388"/>
            <a:ext cx="504900" cy="57000"/>
          </a:xfrm>
          <a:prstGeom prst="rect">
            <a:avLst/>
          </a:prstGeom>
          <a:solidFill>
            <a:srgbClr val="000000"/>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aphicFrame>
        <p:nvGraphicFramePr>
          <p:cNvPr id="66" name="Google Shape;66;g322cd3cfe0b_0_44"/>
          <p:cNvGraphicFramePr/>
          <p:nvPr>
            <p:extLst>
              <p:ext uri="{D42A27DB-BD31-4B8C-83A1-F6EECF244321}">
                <p14:modId xmlns:p14="http://schemas.microsoft.com/office/powerpoint/2010/main" val="842204251"/>
              </p:ext>
            </p:extLst>
          </p:nvPr>
        </p:nvGraphicFramePr>
        <p:xfrm>
          <a:off x="988556" y="1349495"/>
          <a:ext cx="7107775" cy="1005750"/>
        </p:xfrm>
        <a:graphic>
          <a:graphicData uri="http://schemas.openxmlformats.org/drawingml/2006/table">
            <a:tbl>
              <a:tblPr>
                <a:noFill/>
                <a:tableStyleId>{6230B800-8133-4549-80BD-594ECD9E2577}</a:tableStyleId>
              </a:tblPr>
              <a:tblGrid>
                <a:gridCol w="3988325">
                  <a:extLst>
                    <a:ext uri="{9D8B030D-6E8A-4147-A177-3AD203B41FA5}">
                      <a16:colId xmlns:a16="http://schemas.microsoft.com/office/drawing/2014/main" val="20000"/>
                    </a:ext>
                  </a:extLst>
                </a:gridCol>
                <a:gridCol w="311945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rgbClr val="D72E9F"/>
                          </a:solidFill>
                        </a:rPr>
                        <a:t>Title</a:t>
                      </a:r>
                      <a:endParaRPr sz="1000" b="1" u="none" strike="noStrike" cap="none" dirty="0">
                        <a:solidFill>
                          <a:srgbClr val="D72E9F"/>
                        </a:solidFill>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US" sz="1000" b="1" u="none" strike="noStrike" cap="none" dirty="0">
                          <a:solidFill>
                            <a:srgbClr val="D72E9F"/>
                          </a:solidFill>
                        </a:rPr>
                        <a:t>Page Number</a:t>
                      </a:r>
                      <a:endParaRPr sz="1000" b="1" u="none" strike="noStrike" cap="none" dirty="0">
                        <a:solidFill>
                          <a:srgbClr val="D72E9F"/>
                        </a:solidFill>
                      </a:endParaRPr>
                    </a:p>
                  </a:txBody>
                  <a:tcPr marL="91425" marR="91425" marT="91425" marB="91425" anchor="ct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sz="1000" b="1" i="0" u="none" strike="noStrike" cap="none" dirty="0">
                          <a:solidFill>
                            <a:srgbClr val="D72E9F"/>
                          </a:solidFill>
                          <a:latin typeface="Arial" panose="020B0604020202020204"/>
                          <a:ea typeface="Arial" panose="020B0604020202020204"/>
                          <a:cs typeface="Arial" panose="020B0604020202020204"/>
                          <a:sym typeface="Arial" panose="020B0604020202020204"/>
                        </a:rPr>
                        <a:t>Month</a:t>
                      </a:r>
                      <a:r>
                        <a:rPr lang="en-IN" sz="1000" b="1" i="0" u="none" strike="noStrike" cap="none" dirty="0">
                          <a:solidFill>
                            <a:srgbClr val="D72E9F"/>
                          </a:solidFill>
                          <a:latin typeface="Arial" panose="020B0604020202020204"/>
                          <a:ea typeface="Arial" panose="020B0604020202020204"/>
                          <a:cs typeface="Arial" panose="020B0604020202020204"/>
                          <a:sym typeface="Arial" panose="020B0604020202020204"/>
                        </a:rPr>
                        <a:t> Highlights</a:t>
                      </a:r>
                      <a:endParaRPr lang="en-US" sz="1000" b="1" i="0" u="none" strike="noStrike" cap="none" dirty="0">
                        <a:solidFill>
                          <a:srgbClr val="D72E9F"/>
                        </a:solidFill>
                        <a:latin typeface="Arial" panose="020B0604020202020204"/>
                        <a:ea typeface="Arial" panose="020B0604020202020204"/>
                        <a:cs typeface="Arial" panose="020B0604020202020204"/>
                        <a:sym typeface="Arial" panose="020B0604020202020204"/>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IN" sz="1000" b="1" u="none" strike="noStrike" cap="none" dirty="0">
                          <a:solidFill>
                            <a:schemeClr val="dk1"/>
                          </a:solidFill>
                        </a:rPr>
                        <a:t>29</a:t>
                      </a:r>
                    </a:p>
                  </a:txBody>
                  <a:tcPr marL="91425" marR="91425" marT="91425" marB="91425" anchor="ctr"/>
                </a:tc>
                <a:extLst>
                  <a:ext uri="{0D108BD9-81ED-4DB2-BD59-A6C34878D82A}">
                    <a16:rowId xmlns:a16="http://schemas.microsoft.com/office/drawing/2014/main" val="10006"/>
                  </a:ext>
                </a:extLst>
              </a:tr>
              <a:tr h="0">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sz="1000" b="1" dirty="0">
                          <a:solidFill>
                            <a:srgbClr val="D72E9F"/>
                          </a:solidFill>
                          <a:sym typeface="+mn-ea"/>
                        </a:rPr>
                        <a:t>Students Acheivement</a:t>
                      </a:r>
                      <a:endParaRPr lang="en-GB" sz="1000" b="1" i="0" u="none" strike="noStrike" cap="none" dirty="0">
                        <a:solidFill>
                          <a:srgbClr val="D72E9F"/>
                        </a:solidFill>
                        <a:latin typeface="Arial" panose="020B0604020202020204"/>
                        <a:ea typeface="Arial" panose="020B0604020202020204"/>
                        <a:cs typeface="Arial" panose="020B0604020202020204"/>
                        <a:sym typeface="Arial" panose="020B0604020202020204"/>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800"/>
                        <a:buFont typeface="Arial" panose="020B0604020202020204"/>
                        <a:buNone/>
                      </a:pPr>
                      <a:r>
                        <a:rPr lang="en-GB" altLang="en-US" sz="1000" b="1" u="none" strike="noStrike" cap="none" dirty="0">
                          <a:solidFill>
                            <a:schemeClr val="dk1"/>
                          </a:solidFill>
                        </a:rPr>
                        <a:t>31</a:t>
                      </a:r>
                    </a:p>
                  </a:txBody>
                  <a:tcPr marL="91425" marR="91425" marT="91425" marB="91425" anchor="ctr"/>
                </a:tc>
                <a:extLst>
                  <a:ext uri="{0D108BD9-81ED-4DB2-BD59-A6C34878D82A}">
                    <a16:rowId xmlns:a16="http://schemas.microsoft.com/office/drawing/2014/main" val="10007"/>
                  </a:ext>
                </a:extLst>
              </a:tr>
            </a:tbl>
          </a:graphicData>
        </a:graphic>
      </p:graphicFrame>
      <p:sp>
        <p:nvSpPr>
          <p:cNvPr id="67" name="Google Shape;67;g322cd3cfe0b_0_44"/>
          <p:cNvSpPr txBox="1">
            <a:spLocks noGrp="1"/>
          </p:cNvSpPr>
          <p:nvPr>
            <p:ph type="sldNum" idx="12"/>
          </p:nvPr>
        </p:nvSpPr>
        <p:spPr>
          <a:xfrm>
            <a:off x="8595309" y="4797376"/>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4</a:t>
            </a:fld>
            <a:endParaRPr lang="en-US"/>
          </a:p>
        </p:txBody>
      </p:sp>
      <p:pic>
        <p:nvPicPr>
          <p:cNvPr id="2" name="Picture 2" descr="Sri Amaraavathi College of Arts &amp; Science">
            <a:extLst>
              <a:ext uri="{FF2B5EF4-FFF2-40B4-BE49-F238E27FC236}">
                <a16:creationId xmlns:a16="http://schemas.microsoft.com/office/drawing/2014/main" id="{6FC462F4-E506-2BEB-6735-9079FCE1A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088" y="49554"/>
            <a:ext cx="1853352" cy="469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2"/>
          <p:cNvSpPr txBox="1"/>
          <p:nvPr/>
        </p:nvSpPr>
        <p:spPr>
          <a:xfrm>
            <a:off x="8235898" y="435875"/>
            <a:ext cx="676800" cy="166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000"/>
              <a:buFont typeface="Arial" panose="020B0604020202020204"/>
              <a:buNone/>
            </a:pPr>
            <a:r>
              <a:rPr lang="en-US"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CAMPUS</a:t>
            </a:r>
            <a:endParaRPr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p:txBody>
      </p:sp>
      <p:sp>
        <p:nvSpPr>
          <p:cNvPr id="87" name="Google Shape;87;p22"/>
          <p:cNvSpPr txBox="1">
            <a:spLocks noGrp="1"/>
          </p:cNvSpPr>
          <p:nvPr>
            <p:ph type="title"/>
          </p:nvPr>
        </p:nvSpPr>
        <p:spPr>
          <a:xfrm>
            <a:off x="884225" y="1653075"/>
            <a:ext cx="7681800" cy="1079783"/>
          </a:xfrm>
          <a:prstGeom prst="rect">
            <a:avLst/>
          </a:prstGeom>
          <a:noFill/>
          <a:ln>
            <a:noFill/>
          </a:ln>
        </p:spPr>
        <p:txBody>
          <a:bodyPr spcFirstLastPara="1" wrap="square" lIns="0" tIns="12700" rIns="0" bIns="0" anchor="t" anchorCtr="0">
            <a:spAutoFit/>
          </a:bodyPr>
          <a:lstStyle/>
          <a:p>
            <a:pPr marL="12065" marR="5080" lvl="0" indent="0" algn="ctr" rtl="0">
              <a:lnSpc>
                <a:spcPct val="165000"/>
              </a:lnSpc>
              <a:spcBef>
                <a:spcPts val="220"/>
              </a:spcBef>
              <a:spcAft>
                <a:spcPts val="0"/>
              </a:spcAft>
              <a:buSzPts val="1400"/>
              <a:buNone/>
            </a:pPr>
            <a:r>
              <a:rPr lang="en-US" sz="2000" b="0" dirty="0">
                <a:solidFill>
                  <a:srgbClr val="000000"/>
                </a:solidFill>
                <a:latin typeface="Arial" panose="020B0604020202020204"/>
                <a:ea typeface="Arial" panose="020B0604020202020204"/>
                <a:cs typeface="Arial" panose="020B0604020202020204"/>
                <a:sym typeface="Arial" panose="020B0604020202020204"/>
              </a:rPr>
              <a:t>II Bachelor of Computer Applications </a:t>
            </a:r>
            <a:endParaRPr sz="2000" b="0" dirty="0">
              <a:solidFill>
                <a:srgbClr val="000000"/>
              </a:solidFill>
              <a:latin typeface="Arial" panose="020B0604020202020204"/>
              <a:ea typeface="Arial" panose="020B0604020202020204"/>
              <a:cs typeface="Arial" panose="020B0604020202020204"/>
              <a:sym typeface="Arial" panose="020B0604020202020204"/>
            </a:endParaRPr>
          </a:p>
          <a:p>
            <a:pPr marL="12065" marR="5080" lvl="0" indent="0" algn="ctr" rtl="0">
              <a:lnSpc>
                <a:spcPct val="165000"/>
              </a:lnSpc>
              <a:spcBef>
                <a:spcPts val="220"/>
              </a:spcBef>
              <a:spcAft>
                <a:spcPts val="0"/>
              </a:spcAft>
              <a:buSzPts val="1400"/>
              <a:buNone/>
            </a:pPr>
            <a:r>
              <a:rPr lang="en-US" sz="2000" b="0" dirty="0">
                <a:solidFill>
                  <a:srgbClr val="000000"/>
                </a:solidFill>
                <a:latin typeface="Arial" panose="020B0604020202020204"/>
                <a:ea typeface="Arial" panose="020B0604020202020204"/>
                <a:cs typeface="Arial" panose="020B0604020202020204"/>
                <a:sym typeface="Arial" panose="020B0604020202020204"/>
              </a:rPr>
              <a:t>2024 - 2027</a:t>
            </a:r>
            <a:endParaRPr sz="2000" dirty="0">
              <a:latin typeface="Arial" panose="020B0604020202020204"/>
              <a:ea typeface="Arial" panose="020B0604020202020204"/>
              <a:cs typeface="Arial" panose="020B0604020202020204"/>
              <a:sym typeface="Arial" panose="020B0604020202020204"/>
            </a:endParaRPr>
          </a:p>
        </p:txBody>
      </p:sp>
      <p:sp>
        <p:nvSpPr>
          <p:cNvPr id="88" name="Google Shape;88;p22"/>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5</a:t>
            </a:fld>
            <a:endParaRPr lang="en-US"/>
          </a:p>
        </p:txBody>
      </p:sp>
      <p:pic>
        <p:nvPicPr>
          <p:cNvPr id="2" name="Picture 2" descr="Sri Amaraavathi College of Arts &amp; Science">
            <a:extLst>
              <a:ext uri="{FF2B5EF4-FFF2-40B4-BE49-F238E27FC236}">
                <a16:creationId xmlns:a16="http://schemas.microsoft.com/office/drawing/2014/main" id="{128CEDBE-6E63-6F10-DC49-B659AFD762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302" y="98717"/>
            <a:ext cx="1853352" cy="469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425446" y="498792"/>
            <a:ext cx="3093097" cy="2590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dirty="0"/>
              <a:t>Overall Attendance:</a:t>
            </a:r>
            <a:endParaRPr dirty="0"/>
          </a:p>
        </p:txBody>
      </p:sp>
      <p:sp>
        <p:nvSpPr>
          <p:cNvPr id="96" name="Google Shape;96;p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6</a:t>
            </a:fld>
            <a:endParaRPr lang="en-US"/>
          </a:p>
        </p:txBody>
      </p:sp>
      <p:grpSp>
        <p:nvGrpSpPr>
          <p:cNvPr id="2" name="Google Shape;97;p3"/>
          <p:cNvGrpSpPr/>
          <p:nvPr/>
        </p:nvGrpSpPr>
        <p:grpSpPr>
          <a:xfrm>
            <a:off x="438146" y="814387"/>
            <a:ext cx="1043380" cy="57150"/>
            <a:chOff x="438146" y="814387"/>
            <a:chExt cx="1043380" cy="57150"/>
          </a:xfrm>
        </p:grpSpPr>
        <p:sp>
          <p:nvSpPr>
            <p:cNvPr id="98" name="Google Shape;98;p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1" name="Rectangle 10"/>
          <p:cNvSpPr/>
          <p:nvPr/>
        </p:nvSpPr>
        <p:spPr>
          <a:xfrm>
            <a:off x="135467" y="3423474"/>
            <a:ext cx="8890000" cy="1754326"/>
          </a:xfrm>
          <a:prstGeom prst="rect">
            <a:avLst/>
          </a:prstGeom>
        </p:spPr>
        <p:txBody>
          <a:bodyPr wrap="square" lIns="91440" tIns="45720" rIns="91440" bIns="45720" anchor="t">
            <a:spAutoFit/>
          </a:bodyPr>
          <a:lstStyle/>
          <a:p>
            <a:pPr marL="171450" indent="-171450" algn="just">
              <a:buFont typeface="Wingdings" panose="05000000000000000000" pitchFamily="2" charset="2"/>
              <a:buChar char="Ø"/>
            </a:pPr>
            <a:r>
              <a:rPr lang="en-IN" sz="1200" dirty="0"/>
              <a:t>Based on the attendance records, out of a total of 37 students, 23 students have maintained attendance above 75%, which is commendable. Among them, 13 students are in the Excellent category (90-100%), 9 students in the Good category (80-89%), and 1 student in the Average category (75-79%). However, 14 students have recorded attendance below 75% in the Poor category and will require focused monitoring, additional guidance, and appropriate corrective measures to improve their attendance and overall academic participation.</a:t>
            </a:r>
          </a:p>
          <a:p>
            <a:pPr marL="171450" indent="-171450" algn="just">
              <a:buFont typeface="Wingdings" panose="05000000000000000000" pitchFamily="2" charset="2"/>
              <a:buChar char="Ø"/>
            </a:pPr>
            <a:r>
              <a:rPr lang="en-IN" sz="1200" b="1" dirty="0"/>
              <a:t>Average: </a:t>
            </a:r>
            <a:r>
              <a:rPr lang="en-IN" sz="1200" dirty="0"/>
              <a:t>The class recorded an attendance rate of </a:t>
            </a:r>
            <a:r>
              <a:rPr lang="en-IN" sz="1200" b="1" dirty="0"/>
              <a:t>approximately 79%, </a:t>
            </a:r>
            <a:r>
              <a:rPr lang="en-IN" sz="1200" dirty="0"/>
              <a:t>indicating a moderate level of participation with significant scope for improvement. Continued commitment to regular attendance and targeted interventions for students in the Poor category will help improve overall engagement.</a:t>
            </a:r>
          </a:p>
          <a:p>
            <a:pPr marL="171450" indent="-171450" algn="just">
              <a:buFont typeface="Wingdings" panose="05000000000000000000" pitchFamily="2" charset="2"/>
              <a:buChar char="Ø"/>
            </a:pPr>
            <a:endParaRPr lang="en-US" altLang="en-GB" sz="1200" dirty="0">
              <a:latin typeface="+mj-lt"/>
            </a:endParaRPr>
          </a:p>
        </p:txBody>
      </p:sp>
      <p:pic>
        <p:nvPicPr>
          <p:cNvPr id="7" name="Picture 2" descr="Sri Amaraavathi College of Arts &amp; Science">
            <a:extLst>
              <a:ext uri="{FF2B5EF4-FFF2-40B4-BE49-F238E27FC236}">
                <a16:creationId xmlns:a16="http://schemas.microsoft.com/office/drawing/2014/main" id="{E3C8598A-D4FE-5557-3D1E-C1670C8C36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75" y="29221"/>
            <a:ext cx="1853352" cy="46957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5A35CC8-9ACB-18C0-BF7A-6576FFE267DE}"/>
              </a:ext>
            </a:extLst>
          </p:cNvPr>
          <p:cNvPicPr>
            <a:picLocks noChangeAspect="1"/>
          </p:cNvPicPr>
          <p:nvPr/>
        </p:nvPicPr>
        <p:blipFill>
          <a:blip r:embed="rId4"/>
          <a:stretch>
            <a:fillRect/>
          </a:stretch>
        </p:blipFill>
        <p:spPr>
          <a:xfrm>
            <a:off x="2095162" y="783462"/>
            <a:ext cx="5165036" cy="25561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425446" y="498792"/>
            <a:ext cx="3093097" cy="2590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Technical Evaluation</a:t>
            </a:r>
          </a:p>
        </p:txBody>
      </p:sp>
      <p:sp>
        <p:nvSpPr>
          <p:cNvPr id="95" name="Google Shape;95;p3"/>
          <p:cNvSpPr txBox="1"/>
          <p:nvPr/>
        </p:nvSpPr>
        <p:spPr>
          <a:xfrm>
            <a:off x="491025" y="3655277"/>
            <a:ext cx="8248800" cy="1530675"/>
          </a:xfrm>
          <a:prstGeom prst="rect">
            <a:avLst/>
          </a:prstGeom>
          <a:noFill/>
          <a:ln>
            <a:noFill/>
          </a:ln>
        </p:spPr>
        <p:txBody>
          <a:bodyPr spcFirstLastPara="1" wrap="square" lIns="0" tIns="12700" rIns="0" bIns="0" anchor="t" anchorCtr="0">
            <a:spAutoFit/>
          </a:bodyPr>
          <a:lstStyle/>
          <a:p>
            <a:pPr marL="171450" indent="-171450" algn="just">
              <a:buFont typeface="Wingdings" panose="05000000000000000000" pitchFamily="2" charset="2"/>
              <a:buChar char="§"/>
            </a:pPr>
            <a:r>
              <a:rPr lang="en-IN" sz="1200" dirty="0"/>
              <a:t>Students underwent rigorous training in coding skills, focusing on solving practical programming problems on the Leet Code platform. </a:t>
            </a:r>
            <a:r>
              <a:rPr lang="en-IN" sz="1200" b="1" dirty="0"/>
              <a:t>A total of 30 homework problems were assigned </a:t>
            </a:r>
            <a:r>
              <a:rPr lang="en-IN" sz="1200" dirty="0"/>
              <a:t>to enhance their technical proficiency and problem-solving abilities.</a:t>
            </a:r>
          </a:p>
          <a:p>
            <a:pPr marL="171450" indent="-171450" algn="just">
              <a:buFont typeface="Wingdings" panose="05000000000000000000" pitchFamily="2" charset="2"/>
              <a:buChar char="§"/>
            </a:pPr>
            <a:r>
              <a:rPr lang="en-IN" sz="1200" dirty="0"/>
              <a:t>On average, </a:t>
            </a:r>
            <a:r>
              <a:rPr lang="en-IN" sz="1200" b="1" dirty="0"/>
              <a:t>students successfully solved 19 out of 30 problems</a:t>
            </a:r>
            <a:r>
              <a:rPr lang="en-IN" sz="1200" dirty="0"/>
              <a:t>, indicating a moderate to good level of performance. While several students demonstrated strong coding skills by achieving high scores, a few students showed lower participation and consistency, highlighting the need for additional practice and targeted support to improve overall performance.</a:t>
            </a:r>
          </a:p>
          <a:p>
            <a:pPr marL="12700" marR="152400" lvl="0" algn="just" rtl="0">
              <a:lnSpc>
                <a:spcPct val="115000"/>
              </a:lnSpc>
              <a:spcBef>
                <a:spcPts val="100"/>
              </a:spcBef>
              <a:spcAft>
                <a:spcPts val="0"/>
              </a:spcAft>
              <a:buClr>
                <a:schemeClr val="dk1"/>
              </a:buClr>
              <a:buSzPts val="1100"/>
            </a:pPr>
            <a:endParaRPr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96" name="Google Shape;96;p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7</a:t>
            </a:fld>
            <a:endParaRPr lang="en-US"/>
          </a:p>
        </p:txBody>
      </p:sp>
      <p:grpSp>
        <p:nvGrpSpPr>
          <p:cNvPr id="97" name="Google Shape;97;p3"/>
          <p:cNvGrpSpPr/>
          <p:nvPr/>
        </p:nvGrpSpPr>
        <p:grpSpPr>
          <a:xfrm>
            <a:off x="438146" y="814387"/>
            <a:ext cx="1043380" cy="57150"/>
            <a:chOff x="438146" y="814387"/>
            <a:chExt cx="1043380" cy="57150"/>
          </a:xfrm>
        </p:grpSpPr>
        <p:sp>
          <p:nvSpPr>
            <p:cNvPr id="98" name="Google Shape;98;p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14" name="Picture 2" descr="Sri Amaraavathi College of Arts &amp; Science">
            <a:extLst>
              <a:ext uri="{FF2B5EF4-FFF2-40B4-BE49-F238E27FC236}">
                <a16:creationId xmlns:a16="http://schemas.microsoft.com/office/drawing/2014/main" id="{1CF82AB7-5032-868C-297A-1D22CDC7CF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75" y="29221"/>
            <a:ext cx="1853352" cy="46957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AD05AE3-D6A3-D3A5-8B41-986D5DF5BFCC}"/>
              </a:ext>
            </a:extLst>
          </p:cNvPr>
          <p:cNvPicPr>
            <a:picLocks noChangeAspect="1"/>
          </p:cNvPicPr>
          <p:nvPr/>
        </p:nvPicPr>
        <p:blipFill>
          <a:blip r:embed="rId4"/>
          <a:stretch>
            <a:fillRect/>
          </a:stretch>
        </p:blipFill>
        <p:spPr>
          <a:xfrm>
            <a:off x="4758898" y="961079"/>
            <a:ext cx="4089469" cy="2556005"/>
          </a:xfrm>
          <a:prstGeom prst="rect">
            <a:avLst/>
          </a:prstGeom>
        </p:spPr>
      </p:pic>
      <p:pic>
        <p:nvPicPr>
          <p:cNvPr id="5" name="Picture 4">
            <a:extLst>
              <a:ext uri="{FF2B5EF4-FFF2-40B4-BE49-F238E27FC236}">
                <a16:creationId xmlns:a16="http://schemas.microsoft.com/office/drawing/2014/main" id="{D2F769BD-F712-7901-E07A-1E3917B598BD}"/>
              </a:ext>
            </a:extLst>
          </p:cNvPr>
          <p:cNvPicPr>
            <a:picLocks noChangeAspect="1"/>
          </p:cNvPicPr>
          <p:nvPr/>
        </p:nvPicPr>
        <p:blipFill>
          <a:blip r:embed="rId5"/>
          <a:stretch>
            <a:fillRect/>
          </a:stretch>
        </p:blipFill>
        <p:spPr>
          <a:xfrm>
            <a:off x="295633" y="936589"/>
            <a:ext cx="4089469" cy="26049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7dcba7478a_1_1"/>
          <p:cNvSpPr txBox="1">
            <a:spLocks noGrp="1"/>
          </p:cNvSpPr>
          <p:nvPr>
            <p:ph type="title"/>
          </p:nvPr>
        </p:nvSpPr>
        <p:spPr>
          <a:xfrm>
            <a:off x="425446" y="498792"/>
            <a:ext cx="30930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Technical Evaluation</a:t>
            </a:r>
          </a:p>
        </p:txBody>
      </p:sp>
      <p:sp>
        <p:nvSpPr>
          <p:cNvPr id="108" name="Google Shape;108;g37dcba7478a_1_1"/>
          <p:cNvSpPr txBox="1"/>
          <p:nvPr/>
        </p:nvSpPr>
        <p:spPr>
          <a:xfrm>
            <a:off x="447600" y="1112427"/>
            <a:ext cx="8248800" cy="2225738"/>
          </a:xfrm>
          <a:prstGeom prst="rect">
            <a:avLst/>
          </a:prstGeom>
          <a:noFill/>
          <a:ln>
            <a:noFill/>
          </a:ln>
        </p:spPr>
        <p:txBody>
          <a:bodyPr spcFirstLastPara="1" wrap="square" lIns="0" tIns="12700" rIns="0" bIns="0" anchor="t" anchorCtr="0">
            <a:spAutoFit/>
          </a:bodyPr>
          <a:lstStyle/>
          <a:p>
            <a:pPr marL="171450" indent="-171450">
              <a:buFont typeface="Wingdings" panose="05000000000000000000" pitchFamily="2" charset="2"/>
              <a:buChar char="Ø"/>
            </a:pPr>
            <a:r>
              <a:rPr lang="en-IN" sz="1200" b="1" dirty="0"/>
              <a:t>Evaluation: </a:t>
            </a:r>
            <a:r>
              <a:rPr lang="en-IN" sz="1200" dirty="0"/>
              <a:t>Each student's performance was assessed based on the number of problems solved and the depth of understanding demonstrated. Scores were then converted into percentages to ensure accurate and detailed progress tracking.</a:t>
            </a:r>
          </a:p>
          <a:p>
            <a:pPr marL="171450" indent="-171450">
              <a:buFont typeface="Wingdings" panose="05000000000000000000" pitchFamily="2" charset="2"/>
              <a:buChar char="Ø"/>
            </a:pPr>
            <a:r>
              <a:rPr lang="en-IN" sz="1200" b="1" dirty="0"/>
              <a:t>Class Average: </a:t>
            </a:r>
            <a:r>
              <a:rPr lang="en-IN" sz="1200" dirty="0"/>
              <a:t>The class achieved an average score of 50.89%, reflecting a developing level of coding capability with opportunities for further growth.</a:t>
            </a:r>
            <a:br>
              <a:rPr lang="en-IN" sz="1200" dirty="0"/>
            </a:br>
            <a:endParaRPr lang="en-IN" sz="1200" dirty="0"/>
          </a:p>
          <a:p>
            <a:pPr marL="171450" indent="-171450">
              <a:buFont typeface="Wingdings" panose="05000000000000000000" pitchFamily="2" charset="2"/>
              <a:buChar char="Ø"/>
            </a:pPr>
            <a:r>
              <a:rPr lang="en-IN" sz="1200" b="1" dirty="0"/>
              <a:t>Profile Building Report</a:t>
            </a:r>
            <a:br>
              <a:rPr lang="en-IN" sz="1200" dirty="0"/>
            </a:br>
            <a:r>
              <a:rPr lang="en-IN" sz="1200" dirty="0"/>
              <a:t>Students focused on enhancing their coding profiles by actively engaging in problem-solving on Leet Code. Each student successfully solved problems on the platform, demonstrating their technical skills and boosting their online presence.</a:t>
            </a:r>
          </a:p>
          <a:p>
            <a:pPr marL="184150" marR="215265" lvl="0" indent="-171450" algn="just" rtl="0">
              <a:lnSpc>
                <a:spcPct val="115000"/>
              </a:lnSpc>
              <a:spcBef>
                <a:spcPts val="1200"/>
              </a:spcBef>
              <a:spcAft>
                <a:spcPts val="0"/>
              </a:spcAft>
              <a:buClr>
                <a:schemeClr val="dk1"/>
              </a:buClr>
              <a:buSzPts val="1100"/>
              <a:buFont typeface="Wingdings" panose="05000000000000000000" pitchFamily="2" charset="2"/>
              <a:buChar char="Ø"/>
            </a:pPr>
            <a:endParaRPr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109" name="Google Shape;109;g37dcba7478a_1_1"/>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8</a:t>
            </a:fld>
            <a:endParaRPr lang="en-US"/>
          </a:p>
        </p:txBody>
      </p:sp>
      <p:grpSp>
        <p:nvGrpSpPr>
          <p:cNvPr id="110" name="Google Shape;110;g37dcba7478a_1_1"/>
          <p:cNvGrpSpPr/>
          <p:nvPr/>
        </p:nvGrpSpPr>
        <p:grpSpPr>
          <a:xfrm>
            <a:off x="438146" y="814387"/>
            <a:ext cx="1043380" cy="57150"/>
            <a:chOff x="438146" y="814387"/>
            <a:chExt cx="1043380" cy="57150"/>
          </a:xfrm>
        </p:grpSpPr>
        <p:sp>
          <p:nvSpPr>
            <p:cNvPr id="111" name="Google Shape;111;g37dcba7478a_1_1"/>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 name="Google Shape;112;g37dcba7478a_1_1"/>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2" name="Picture 1" descr="WhatsApp Image 2026-03-23 at 2.47.00 PM"/>
          <p:cNvPicPr>
            <a:picLocks noChangeAspect="1"/>
          </p:cNvPicPr>
          <p:nvPr/>
        </p:nvPicPr>
        <p:blipFill>
          <a:blip r:embed="rId3"/>
          <a:stretch>
            <a:fillRect/>
          </a:stretch>
        </p:blipFill>
        <p:spPr>
          <a:xfrm>
            <a:off x="812800" y="3306445"/>
            <a:ext cx="2420620" cy="1361440"/>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4" name="Picture 3" descr="WhatsApp Image 2026-03-23 at 2.47.01 PM"/>
          <p:cNvPicPr>
            <a:picLocks noChangeAspect="1"/>
          </p:cNvPicPr>
          <p:nvPr/>
        </p:nvPicPr>
        <p:blipFill>
          <a:blip r:embed="rId4"/>
          <a:stretch>
            <a:fillRect/>
          </a:stretch>
        </p:blipFill>
        <p:spPr>
          <a:xfrm>
            <a:off x="6078220" y="3307080"/>
            <a:ext cx="2420620" cy="1361440"/>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5" name="Picture 4" descr="WhatsApp Image 2026-03-23 at 2.47.00 PM (1)"/>
          <p:cNvPicPr>
            <a:picLocks noChangeAspect="1"/>
          </p:cNvPicPr>
          <p:nvPr/>
        </p:nvPicPr>
        <p:blipFill>
          <a:blip r:embed="rId5"/>
          <a:stretch>
            <a:fillRect/>
          </a:stretch>
        </p:blipFill>
        <p:spPr>
          <a:xfrm>
            <a:off x="3430905" y="3306445"/>
            <a:ext cx="2421890" cy="1362710"/>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6" name="Picture 2" descr="Sri Amaraavathi College of Arts &amp; Science">
            <a:extLst>
              <a:ext uri="{FF2B5EF4-FFF2-40B4-BE49-F238E27FC236}">
                <a16:creationId xmlns:a16="http://schemas.microsoft.com/office/drawing/2014/main" id="{A7124D88-5424-1D08-B72D-86F8F7813B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0875" y="81833"/>
            <a:ext cx="1853352" cy="469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425446" y="498792"/>
            <a:ext cx="4301537" cy="48987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Overall Communication Level</a:t>
            </a:r>
            <a:br>
              <a:rPr lang="en-US" sz="1600">
                <a:solidFill>
                  <a:schemeClr val="dk1"/>
                </a:solidFill>
              </a:rPr>
            </a:br>
            <a:endParaRPr lang="en-US" sz="1600">
              <a:solidFill>
                <a:schemeClr val="dk1"/>
              </a:solidFill>
            </a:endParaRPr>
          </a:p>
        </p:txBody>
      </p:sp>
      <p:sp>
        <p:nvSpPr>
          <p:cNvPr id="119" name="Google Shape;119;p23"/>
          <p:cNvSpPr txBox="1"/>
          <p:nvPr/>
        </p:nvSpPr>
        <p:spPr>
          <a:xfrm>
            <a:off x="481400" y="3252417"/>
            <a:ext cx="8248800" cy="1730987"/>
          </a:xfrm>
          <a:prstGeom prst="rect">
            <a:avLst/>
          </a:prstGeom>
          <a:noFill/>
          <a:ln>
            <a:noFill/>
          </a:ln>
        </p:spPr>
        <p:txBody>
          <a:bodyPr spcFirstLastPara="1" wrap="square" lIns="0" tIns="12700" rIns="0" bIns="0" anchor="t" anchorCtr="0">
            <a:spAutoFit/>
          </a:bodyPr>
          <a:lstStyle/>
          <a:p>
            <a:pPr marL="171450" indent="-171450" algn="just">
              <a:buFont typeface="Wingdings" panose="05000000000000000000" pitchFamily="2" charset="2"/>
              <a:buChar char="ü"/>
            </a:pPr>
            <a:r>
              <a:rPr lang="en-IN" sz="1100" dirty="0"/>
              <a:t>Students underwent focused training in communication skills, emphasizing clarity, confidence, and effectiveness in expression. Various activities and tasks were conducted to strengthen their Writing, Listening, Speaking, Reading, and Presentation abilities.</a:t>
            </a:r>
          </a:p>
          <a:p>
            <a:pPr marL="171450" indent="-171450" algn="just">
              <a:buFont typeface="Wingdings" panose="05000000000000000000" pitchFamily="2" charset="2"/>
              <a:buChar char="ü"/>
            </a:pPr>
            <a:r>
              <a:rPr lang="en-IN" sz="1100" dirty="0"/>
              <a:t>In the Communication Skills assessment based on CEFR levels, out of 37 students, </a:t>
            </a:r>
            <a:r>
              <a:rPr lang="en-IN" sz="1100" b="1" dirty="0"/>
              <a:t>11 students are at A1 level (beginner), 16 students are at A2 level (elementary), and 10 students have achieved B1 level</a:t>
            </a:r>
            <a:r>
              <a:rPr lang="en-IN" sz="1100" dirty="0"/>
              <a:t> (independent user). While the B1 students demonstrate a higher level of communicative competence, the majority of students (27 out of 37) are currently at the foundational stages (A1 and A2) and will require focused monitoring, additional guidance, and appropriate corrective measures to improve their communication proficiency in the forthcoming sessions.</a:t>
            </a:r>
          </a:p>
          <a:p>
            <a:pPr marL="171450" indent="-171450" algn="just">
              <a:buFont typeface="Wingdings" panose="05000000000000000000" pitchFamily="2" charset="2"/>
              <a:buChar char="ü"/>
            </a:pPr>
            <a:r>
              <a:rPr lang="en-IN" sz="1100" b="1" dirty="0"/>
              <a:t>Class Average: </a:t>
            </a:r>
            <a:r>
              <a:rPr lang="en-IN" sz="1100" dirty="0"/>
              <a:t>The class recorded a majority of students at foundational levels (A1 and A2), indicating a significant need for consistent practice and focused effort to strengthen key communication skills and progress to higher proficiency levels.</a:t>
            </a:r>
          </a:p>
          <a:p>
            <a:pPr marL="184150" marR="157480" lvl="0" indent="-171450" algn="just" rtl="0">
              <a:lnSpc>
                <a:spcPct val="115000"/>
              </a:lnSpc>
              <a:spcBef>
                <a:spcPts val="0"/>
              </a:spcBef>
              <a:spcAft>
                <a:spcPts val="0"/>
              </a:spcAft>
              <a:buClr>
                <a:srgbClr val="000000"/>
              </a:buClr>
              <a:buSzPts val="1100"/>
              <a:buFont typeface="Wingdings" panose="05000000000000000000" pitchFamily="2" charset="2"/>
              <a:buChar char="ü"/>
            </a:pPr>
            <a:endParaRPr sz="1100" b="0" i="0" u="none" strike="noStrike" cap="none" dirty="0">
              <a:solidFill>
                <a:schemeClr val="dk1"/>
              </a:solidFill>
              <a:latin typeface="Arial" panose="020B0604020202020204"/>
              <a:ea typeface="Arial" panose="020B0604020202020204"/>
              <a:cs typeface="Arial" panose="020B0604020202020204"/>
            </a:endParaRPr>
          </a:p>
        </p:txBody>
      </p:sp>
      <p:sp>
        <p:nvSpPr>
          <p:cNvPr id="120" name="Google Shape;120;p2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9</a:t>
            </a:fld>
            <a:endParaRPr lang="en-US"/>
          </a:p>
        </p:txBody>
      </p:sp>
      <p:grpSp>
        <p:nvGrpSpPr>
          <p:cNvPr id="121" name="Google Shape;121;p23"/>
          <p:cNvGrpSpPr/>
          <p:nvPr/>
        </p:nvGrpSpPr>
        <p:grpSpPr>
          <a:xfrm>
            <a:off x="438146" y="814387"/>
            <a:ext cx="1043380" cy="57150"/>
            <a:chOff x="438146" y="814387"/>
            <a:chExt cx="1043380" cy="57150"/>
          </a:xfrm>
        </p:grpSpPr>
        <p:sp>
          <p:nvSpPr>
            <p:cNvPr id="122" name="Google Shape;122;p2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 name="Google Shape;123;p2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5" name="Picture 2" descr="Sri Amaraavathi College of Arts &amp; Science">
            <a:extLst>
              <a:ext uri="{FF2B5EF4-FFF2-40B4-BE49-F238E27FC236}">
                <a16:creationId xmlns:a16="http://schemas.microsoft.com/office/drawing/2014/main" id="{68EE5BCF-875A-1BDE-F13F-9CEC11AE5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850" y="54495"/>
            <a:ext cx="1853352" cy="46957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850603E-EAAE-37B1-126B-0ABDA24404ED}"/>
              </a:ext>
            </a:extLst>
          </p:cNvPr>
          <p:cNvPicPr>
            <a:picLocks noChangeAspect="1"/>
          </p:cNvPicPr>
          <p:nvPr/>
        </p:nvPicPr>
        <p:blipFill>
          <a:blip r:embed="rId4"/>
          <a:stretch>
            <a:fillRect/>
          </a:stretch>
        </p:blipFill>
        <p:spPr>
          <a:xfrm>
            <a:off x="2461141" y="814387"/>
            <a:ext cx="4531683" cy="22529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10</a:t>
            </a:fld>
            <a:endParaRPr lang="en-US"/>
          </a:p>
        </p:txBody>
      </p:sp>
      <p:grpSp>
        <p:nvGrpSpPr>
          <p:cNvPr id="160" name="Google Shape;160;p28"/>
          <p:cNvGrpSpPr/>
          <p:nvPr/>
        </p:nvGrpSpPr>
        <p:grpSpPr>
          <a:xfrm>
            <a:off x="438146" y="814387"/>
            <a:ext cx="1043380" cy="57150"/>
            <a:chOff x="438146" y="814387"/>
            <a:chExt cx="1043380" cy="57150"/>
          </a:xfrm>
        </p:grpSpPr>
        <p:sp>
          <p:nvSpPr>
            <p:cNvPr id="161" name="Google Shape;161;p28"/>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 name="Google Shape;162;p28"/>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64" name="Google Shape;164;p28"/>
          <p:cNvSpPr txBox="1">
            <a:spLocks noGrp="1"/>
          </p:cNvSpPr>
          <p:nvPr>
            <p:ph type="title"/>
          </p:nvPr>
        </p:nvSpPr>
        <p:spPr>
          <a:xfrm>
            <a:off x="425446" y="498792"/>
            <a:ext cx="43014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Academic performance </a:t>
            </a:r>
          </a:p>
        </p:txBody>
      </p:sp>
      <p:sp>
        <p:nvSpPr>
          <p:cNvPr id="11" name="Google Shape;136;p26"/>
          <p:cNvSpPr txBox="1"/>
          <p:nvPr/>
        </p:nvSpPr>
        <p:spPr>
          <a:xfrm>
            <a:off x="357510" y="3822837"/>
            <a:ext cx="8786490" cy="936154"/>
          </a:xfrm>
          <a:prstGeom prst="rect">
            <a:avLst/>
          </a:prstGeom>
          <a:noFill/>
          <a:ln>
            <a:noFill/>
          </a:ln>
        </p:spPr>
        <p:txBody>
          <a:bodyPr spcFirstLastPara="1" wrap="square" lIns="0" tIns="12700" rIns="0" bIns="0" anchor="t" anchorCtr="0">
            <a:spAutoFit/>
          </a:bodyPr>
          <a:lstStyle/>
          <a:p>
            <a:pPr marL="12700" lvl="0">
              <a:buSzPts val="1000"/>
            </a:pPr>
            <a:r>
              <a:rPr lang="en-US" sz="1200" b="1" dirty="0"/>
              <a:t>Aptitude &amp; Verbal:</a:t>
            </a:r>
            <a:br>
              <a:rPr lang="en-US" sz="1200" dirty="0"/>
            </a:br>
            <a:r>
              <a:rPr lang="en-IN" sz="1200" dirty="0"/>
              <a:t>In Aptitude &amp; Verbal, based on the assessments conducted in May 2026, out of 37 students, 32 students attained scores above 60%, which is highly commendable. However, 5 students obtained scores below 60% and will require focused attention, additional support, and targeted interventions to strengthen their logical reasoning, quantitative aptitude, and verbal ability skills to improve their performance in the forthcoming sessions.</a:t>
            </a:r>
            <a:endParaRPr lang="en-GB"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3" name="Picture 2" descr="Sri Amaraavathi College of Arts &amp; Science">
            <a:extLst>
              <a:ext uri="{FF2B5EF4-FFF2-40B4-BE49-F238E27FC236}">
                <a16:creationId xmlns:a16="http://schemas.microsoft.com/office/drawing/2014/main" id="{30E0CD87-FD8B-0DBA-BA36-D89B9F5D6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514" y="54371"/>
            <a:ext cx="1853352" cy="46957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5D726B7-C454-797B-A04C-4A73F227B5FE}"/>
              </a:ext>
            </a:extLst>
          </p:cNvPr>
          <p:cNvPicPr>
            <a:picLocks noChangeAspect="1"/>
          </p:cNvPicPr>
          <p:nvPr/>
        </p:nvPicPr>
        <p:blipFill>
          <a:blip r:embed="rId4"/>
          <a:stretch>
            <a:fillRect/>
          </a:stretch>
        </p:blipFill>
        <p:spPr>
          <a:xfrm>
            <a:off x="2084227" y="842961"/>
            <a:ext cx="5169632" cy="25877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2"/>
          <p:cNvSpPr txBox="1"/>
          <p:nvPr/>
        </p:nvSpPr>
        <p:spPr>
          <a:xfrm>
            <a:off x="8235898" y="435875"/>
            <a:ext cx="676800" cy="166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000"/>
              <a:buFont typeface="Arial" panose="020B0604020202020204"/>
              <a:buNone/>
            </a:pPr>
            <a:r>
              <a:rPr lang="en-US"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CAMPUS</a:t>
            </a:r>
            <a:endParaRPr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p:txBody>
      </p:sp>
      <p:sp>
        <p:nvSpPr>
          <p:cNvPr id="87" name="Google Shape;87;p22"/>
          <p:cNvSpPr txBox="1">
            <a:spLocks noGrp="1"/>
          </p:cNvSpPr>
          <p:nvPr>
            <p:ph type="title"/>
          </p:nvPr>
        </p:nvSpPr>
        <p:spPr>
          <a:xfrm>
            <a:off x="884225" y="1653075"/>
            <a:ext cx="7681800" cy="1079783"/>
          </a:xfrm>
          <a:prstGeom prst="rect">
            <a:avLst/>
          </a:prstGeom>
          <a:noFill/>
          <a:ln>
            <a:noFill/>
          </a:ln>
        </p:spPr>
        <p:txBody>
          <a:bodyPr spcFirstLastPara="1" wrap="square" lIns="0" tIns="12700" rIns="0" bIns="0" anchor="t" anchorCtr="0">
            <a:spAutoFit/>
          </a:bodyPr>
          <a:lstStyle/>
          <a:p>
            <a:pPr marL="12065" marR="5080" lvl="0" indent="0" algn="ctr" rtl="0">
              <a:lnSpc>
                <a:spcPct val="165000"/>
              </a:lnSpc>
              <a:spcBef>
                <a:spcPts val="220"/>
              </a:spcBef>
              <a:spcAft>
                <a:spcPts val="0"/>
              </a:spcAft>
              <a:buSzPts val="1400"/>
              <a:buNone/>
            </a:pPr>
            <a:r>
              <a:rPr lang="en-US" sz="2000" b="0" dirty="0">
                <a:solidFill>
                  <a:srgbClr val="000000"/>
                </a:solidFill>
                <a:latin typeface="Arial" panose="020B0604020202020204"/>
                <a:ea typeface="Arial" panose="020B0604020202020204"/>
                <a:cs typeface="Arial" panose="020B0604020202020204"/>
                <a:sym typeface="Arial" panose="020B0604020202020204"/>
              </a:rPr>
              <a:t>I Bachelor of Computer Applications  </a:t>
            </a:r>
            <a:endParaRPr sz="2000" b="0" dirty="0">
              <a:solidFill>
                <a:srgbClr val="000000"/>
              </a:solidFill>
              <a:latin typeface="Arial" panose="020B0604020202020204"/>
              <a:ea typeface="Arial" panose="020B0604020202020204"/>
              <a:cs typeface="Arial" panose="020B0604020202020204"/>
              <a:sym typeface="Arial" panose="020B0604020202020204"/>
            </a:endParaRPr>
          </a:p>
          <a:p>
            <a:pPr marL="12065" marR="5080" lvl="0" indent="0" algn="ctr" rtl="0">
              <a:lnSpc>
                <a:spcPct val="165000"/>
              </a:lnSpc>
              <a:spcBef>
                <a:spcPts val="220"/>
              </a:spcBef>
              <a:spcAft>
                <a:spcPts val="0"/>
              </a:spcAft>
              <a:buSzPts val="1400"/>
              <a:buNone/>
            </a:pPr>
            <a:r>
              <a:rPr lang="en-US" sz="2000" b="0" dirty="0">
                <a:solidFill>
                  <a:srgbClr val="000000"/>
                </a:solidFill>
                <a:latin typeface="Arial" panose="020B0604020202020204"/>
                <a:ea typeface="Arial" panose="020B0604020202020204"/>
                <a:cs typeface="Arial" panose="020B0604020202020204"/>
                <a:sym typeface="Arial" panose="020B0604020202020204"/>
              </a:rPr>
              <a:t>2025 - 2028</a:t>
            </a:r>
            <a:endParaRPr sz="2000" dirty="0">
              <a:latin typeface="Arial" panose="020B0604020202020204"/>
              <a:ea typeface="Arial" panose="020B0604020202020204"/>
              <a:cs typeface="Arial" panose="020B0604020202020204"/>
              <a:sym typeface="Arial" panose="020B0604020202020204"/>
            </a:endParaRPr>
          </a:p>
        </p:txBody>
      </p:sp>
      <p:sp>
        <p:nvSpPr>
          <p:cNvPr id="88" name="Google Shape;88;p22"/>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11</a:t>
            </a:fld>
            <a:endParaRPr lang="en-US"/>
          </a:p>
        </p:txBody>
      </p:sp>
      <p:pic>
        <p:nvPicPr>
          <p:cNvPr id="4" name="Picture 3" descr="Sri Amaraavathi College of Arts &amp; Science">
            <a:extLst>
              <a:ext uri="{FF2B5EF4-FFF2-40B4-BE49-F238E27FC236}">
                <a16:creationId xmlns:a16="http://schemas.microsoft.com/office/drawing/2014/main" id="{A67A5CC1-5FA2-3B47-BF1C-99E773741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95" y="54371"/>
            <a:ext cx="2506071" cy="6349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425446" y="498792"/>
            <a:ext cx="3093097" cy="2590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dirty="0"/>
              <a:t>Overall Attendance:</a:t>
            </a:r>
            <a:endParaRPr dirty="0"/>
          </a:p>
        </p:txBody>
      </p:sp>
      <p:sp>
        <p:nvSpPr>
          <p:cNvPr id="96" name="Google Shape;96;p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12</a:t>
            </a:fld>
            <a:endParaRPr lang="en-US"/>
          </a:p>
        </p:txBody>
      </p:sp>
      <p:grpSp>
        <p:nvGrpSpPr>
          <p:cNvPr id="2" name="Google Shape;97;p3"/>
          <p:cNvGrpSpPr/>
          <p:nvPr/>
        </p:nvGrpSpPr>
        <p:grpSpPr>
          <a:xfrm>
            <a:off x="438146" y="814387"/>
            <a:ext cx="1043380" cy="57150"/>
            <a:chOff x="438146" y="814387"/>
            <a:chExt cx="1043380" cy="57150"/>
          </a:xfrm>
        </p:grpSpPr>
        <p:sp>
          <p:nvSpPr>
            <p:cNvPr id="98" name="Google Shape;98;p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 name="Rectangle 9"/>
          <p:cNvSpPr/>
          <p:nvPr/>
        </p:nvSpPr>
        <p:spPr>
          <a:xfrm>
            <a:off x="135467" y="3423474"/>
            <a:ext cx="8630398" cy="1446550"/>
          </a:xfrm>
          <a:prstGeom prst="rect">
            <a:avLst/>
          </a:prstGeom>
        </p:spPr>
        <p:txBody>
          <a:bodyPr wrap="square" lIns="91440" tIns="45720" rIns="91440" bIns="45720" anchor="t">
            <a:spAutoFit/>
          </a:bodyPr>
          <a:lstStyle/>
          <a:p>
            <a:pPr marL="171450" indent="-171450" algn="just">
              <a:buFont typeface="Wingdings" panose="05000000000000000000" pitchFamily="2" charset="2"/>
              <a:buChar char="q"/>
            </a:pPr>
            <a:r>
              <a:rPr lang="en-IN" sz="1100" dirty="0"/>
              <a:t>Based on the attendance records, out of a total of 46 students, 8 students have maintained attendance in the Excellent category (90-100%), 6 students in the Good category (80-89%), and 5 students in the Average category (75-79%), which is commendable. However, 27 students have recorded attendance below 75% in the Poor category and will require focused monitoring, additional guidance, and appropriate corrective measures to improve their attendance and overall academic participation.</a:t>
            </a:r>
          </a:p>
          <a:p>
            <a:pPr marL="171450" indent="-171450" algn="just">
              <a:buFont typeface="Wingdings" panose="05000000000000000000" pitchFamily="2" charset="2"/>
              <a:buChar char="q"/>
            </a:pPr>
            <a:r>
              <a:rPr lang="en-IN" sz="1100" dirty="0"/>
              <a:t>The class recorded an </a:t>
            </a:r>
            <a:r>
              <a:rPr lang="en-IN" sz="1100" b="1" dirty="0"/>
              <a:t>average attendance rate that requires significant improvement, with 58.7% </a:t>
            </a:r>
            <a:r>
              <a:rPr lang="en-IN" sz="1100" dirty="0"/>
              <a:t>of students falling in the Poor category. Continued commitment to regular attendance and targeted interventions for students in the Poor category will help improve overall engagement and academic participation.</a:t>
            </a:r>
          </a:p>
          <a:p>
            <a:pPr marL="171450" indent="-171450" algn="just">
              <a:buFont typeface="Wingdings" panose="05000000000000000000" pitchFamily="2" charset="2"/>
              <a:buChar char="q"/>
            </a:pPr>
            <a:endParaRPr lang="en-US" altLang="en-GB" sz="1100" dirty="0">
              <a:latin typeface="+mj-lt"/>
            </a:endParaRPr>
          </a:p>
        </p:txBody>
      </p:sp>
      <p:pic>
        <p:nvPicPr>
          <p:cNvPr id="4" name="Picture 3" descr="Sri Amaraavathi College of Arts &amp; Science">
            <a:extLst>
              <a:ext uri="{FF2B5EF4-FFF2-40B4-BE49-F238E27FC236}">
                <a16:creationId xmlns:a16="http://schemas.microsoft.com/office/drawing/2014/main" id="{FBC55490-F0A2-DEFB-D016-E6EFD07E95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258" y="65867"/>
            <a:ext cx="1853352" cy="4695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24064C2-94E6-BA52-397C-E4DB38DD9040}"/>
              </a:ext>
            </a:extLst>
          </p:cNvPr>
          <p:cNvPicPr>
            <a:picLocks noChangeAspect="1"/>
          </p:cNvPicPr>
          <p:nvPr/>
        </p:nvPicPr>
        <p:blipFill>
          <a:blip r:embed="rId4"/>
          <a:stretch>
            <a:fillRect/>
          </a:stretch>
        </p:blipFill>
        <p:spPr>
          <a:xfrm>
            <a:off x="2316276" y="871536"/>
            <a:ext cx="4861419" cy="24113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425446" y="498792"/>
            <a:ext cx="3093097" cy="2590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Technical Evaluation</a:t>
            </a:r>
          </a:p>
        </p:txBody>
      </p:sp>
      <p:sp>
        <p:nvSpPr>
          <p:cNvPr id="95" name="Google Shape;95;p3"/>
          <p:cNvSpPr txBox="1"/>
          <p:nvPr/>
        </p:nvSpPr>
        <p:spPr>
          <a:xfrm>
            <a:off x="491025" y="3655277"/>
            <a:ext cx="8248800" cy="1530675"/>
          </a:xfrm>
          <a:prstGeom prst="rect">
            <a:avLst/>
          </a:prstGeom>
          <a:noFill/>
          <a:ln>
            <a:noFill/>
          </a:ln>
        </p:spPr>
        <p:txBody>
          <a:bodyPr spcFirstLastPara="1" wrap="square" lIns="0" tIns="12700" rIns="0" bIns="0" anchor="t" anchorCtr="0">
            <a:spAutoFit/>
          </a:bodyPr>
          <a:lstStyle/>
          <a:p>
            <a:pPr marL="171450" indent="-171450" algn="just">
              <a:buFont typeface="Wingdings" panose="05000000000000000000" pitchFamily="2" charset="2"/>
              <a:buChar char="Ø"/>
            </a:pPr>
            <a:r>
              <a:rPr lang="en-IN" sz="1200" dirty="0"/>
              <a:t>Students underwent rigorous training in coding skills, focusing on solving practical programming problems on the Leet Code platform. A total of 20 homework problems were assigned to enhance their technical proficiency and problem-solving abilities.</a:t>
            </a:r>
          </a:p>
          <a:p>
            <a:pPr marL="171450" indent="-171450" algn="just">
              <a:buFont typeface="Wingdings" panose="05000000000000000000" pitchFamily="2" charset="2"/>
              <a:buChar char="Ø"/>
            </a:pPr>
            <a:r>
              <a:rPr lang="en-IN" sz="1200" dirty="0"/>
              <a:t>On average, </a:t>
            </a:r>
            <a:r>
              <a:rPr lang="en-IN" sz="1200" b="1" dirty="0"/>
              <a:t>students successfully solved 7 out of 20</a:t>
            </a:r>
            <a:r>
              <a:rPr lang="en-IN" sz="1200" dirty="0"/>
              <a:t> Leet Code problems, indicating a moderate level of performance with significant room for improvement. While several students demonstrated strong coding skills by achieving high scores, a few students showed lower participation and consistency, highlighting the need for additional practice and targeted support to improve overall performance.</a:t>
            </a:r>
          </a:p>
          <a:p>
            <a:pPr marL="184150" marR="152400" lvl="0" indent="-171450" algn="just">
              <a:lnSpc>
                <a:spcPct val="115000"/>
              </a:lnSpc>
              <a:spcBef>
                <a:spcPts val="100"/>
              </a:spcBef>
              <a:buClr>
                <a:schemeClr val="dk1"/>
              </a:buClr>
              <a:buSzPts val="1100"/>
              <a:buFont typeface="Wingdings" panose="05000000000000000000" pitchFamily="2" charset="2"/>
              <a:buChar char="Ø"/>
            </a:pPr>
            <a:endParaRPr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96" name="Google Shape;96;p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13</a:t>
            </a:fld>
            <a:endParaRPr lang="en-US"/>
          </a:p>
        </p:txBody>
      </p:sp>
      <p:grpSp>
        <p:nvGrpSpPr>
          <p:cNvPr id="97" name="Google Shape;97;p3"/>
          <p:cNvGrpSpPr/>
          <p:nvPr/>
        </p:nvGrpSpPr>
        <p:grpSpPr>
          <a:xfrm>
            <a:off x="438146" y="814387"/>
            <a:ext cx="1043380" cy="57150"/>
            <a:chOff x="438146" y="814387"/>
            <a:chExt cx="1043380" cy="57150"/>
          </a:xfrm>
        </p:grpSpPr>
        <p:sp>
          <p:nvSpPr>
            <p:cNvPr id="98" name="Google Shape;98;p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4" name="Picture 3" descr="Sri Amaraavathi College of Arts &amp; Science">
            <a:extLst>
              <a:ext uri="{FF2B5EF4-FFF2-40B4-BE49-F238E27FC236}">
                <a16:creationId xmlns:a16="http://schemas.microsoft.com/office/drawing/2014/main" id="{A8B5162D-EAEC-2A0F-78BF-EF7B24437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147" y="38156"/>
            <a:ext cx="1853352" cy="4695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7447761-27B7-9E0B-430B-A180C3826CB9}"/>
              </a:ext>
            </a:extLst>
          </p:cNvPr>
          <p:cNvPicPr>
            <a:picLocks noChangeAspect="1"/>
          </p:cNvPicPr>
          <p:nvPr/>
        </p:nvPicPr>
        <p:blipFill>
          <a:blip r:embed="rId4"/>
          <a:stretch>
            <a:fillRect/>
          </a:stretch>
        </p:blipFill>
        <p:spPr>
          <a:xfrm>
            <a:off x="4372619" y="967917"/>
            <a:ext cx="4420746" cy="2437250"/>
          </a:xfrm>
          <a:prstGeom prst="rect">
            <a:avLst/>
          </a:prstGeom>
        </p:spPr>
      </p:pic>
      <p:pic>
        <p:nvPicPr>
          <p:cNvPr id="8" name="Picture 7">
            <a:extLst>
              <a:ext uri="{FF2B5EF4-FFF2-40B4-BE49-F238E27FC236}">
                <a16:creationId xmlns:a16="http://schemas.microsoft.com/office/drawing/2014/main" id="{B5A5404F-68D3-AFDA-AAA8-AD174878ACC9}"/>
              </a:ext>
            </a:extLst>
          </p:cNvPr>
          <p:cNvPicPr>
            <a:picLocks noChangeAspect="1"/>
          </p:cNvPicPr>
          <p:nvPr/>
        </p:nvPicPr>
        <p:blipFill>
          <a:blip r:embed="rId5"/>
          <a:stretch>
            <a:fillRect/>
          </a:stretch>
        </p:blipFill>
        <p:spPr>
          <a:xfrm>
            <a:off x="154571" y="967917"/>
            <a:ext cx="3949684" cy="24372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7dcba7478a_1_1"/>
          <p:cNvSpPr txBox="1">
            <a:spLocks noGrp="1"/>
          </p:cNvSpPr>
          <p:nvPr>
            <p:ph type="title"/>
          </p:nvPr>
        </p:nvSpPr>
        <p:spPr>
          <a:xfrm>
            <a:off x="425446" y="498792"/>
            <a:ext cx="30930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Technical Evaluation</a:t>
            </a:r>
          </a:p>
        </p:txBody>
      </p:sp>
      <p:sp>
        <p:nvSpPr>
          <p:cNvPr id="108" name="Google Shape;108;g37dcba7478a_1_1"/>
          <p:cNvSpPr txBox="1"/>
          <p:nvPr/>
        </p:nvSpPr>
        <p:spPr>
          <a:xfrm>
            <a:off x="232090" y="1498053"/>
            <a:ext cx="8248800" cy="2321148"/>
          </a:xfrm>
          <a:prstGeom prst="rect">
            <a:avLst/>
          </a:prstGeom>
          <a:noFill/>
          <a:ln>
            <a:noFill/>
          </a:ln>
        </p:spPr>
        <p:txBody>
          <a:bodyPr spcFirstLastPara="1" wrap="square" lIns="0" tIns="12700" rIns="0" bIns="0" anchor="t" anchorCtr="0">
            <a:spAutoFit/>
          </a:bodyPr>
          <a:lstStyle/>
          <a:p>
            <a:pPr marL="285750" indent="-285750">
              <a:buFont typeface="Wingdings" panose="05000000000000000000" pitchFamily="2" charset="2"/>
              <a:buChar char="ü"/>
            </a:pPr>
            <a:r>
              <a:rPr lang="en-IN" b="1" dirty="0"/>
              <a:t>Evaluation: </a:t>
            </a:r>
            <a:r>
              <a:rPr lang="en-IN" dirty="0"/>
              <a:t>Each student's performance was assessed based on the number of problems solved and the depth of understanding demonstrated. Scores were then converted into percentages to ensure accurate and detailed progress tracking.</a:t>
            </a:r>
          </a:p>
          <a:p>
            <a:pPr marL="285750" indent="-285750">
              <a:buFont typeface="Wingdings" panose="05000000000000000000" pitchFamily="2" charset="2"/>
              <a:buChar char="ü"/>
            </a:pPr>
            <a:r>
              <a:rPr lang="en-IN" b="1" dirty="0"/>
              <a:t>Class Average: The class achieved an average score of 44.61%, </a:t>
            </a:r>
            <a:r>
              <a:rPr lang="en-IN" dirty="0"/>
              <a:t>reflecting a developing level of coding capability with significant room for growth.</a:t>
            </a:r>
          </a:p>
          <a:p>
            <a:pPr marL="285750" indent="-285750">
              <a:buFont typeface="Wingdings" panose="05000000000000000000" pitchFamily="2" charset="2"/>
              <a:buChar char="ü"/>
            </a:pPr>
            <a:r>
              <a:rPr lang="en-IN" b="1" dirty="0"/>
              <a:t>Profile Building Report</a:t>
            </a:r>
            <a:br>
              <a:rPr lang="en-IN" dirty="0"/>
            </a:br>
            <a:r>
              <a:rPr lang="en-IN" dirty="0"/>
              <a:t>Students focused on enhancing their coding profiles by actively engaging in problem-solving on Leet Code. Each student successfully solved problems on the platform, demonstrating their technical skills and boosting their online presence.</a:t>
            </a:r>
          </a:p>
          <a:p>
            <a:br>
              <a:rPr lang="en-IN" sz="1200" dirty="0"/>
            </a:br>
            <a:endParaRPr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109" name="Google Shape;109;g37dcba7478a_1_1"/>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14</a:t>
            </a:fld>
            <a:endParaRPr lang="en-US"/>
          </a:p>
        </p:txBody>
      </p:sp>
      <p:grpSp>
        <p:nvGrpSpPr>
          <p:cNvPr id="110" name="Google Shape;110;g37dcba7478a_1_1"/>
          <p:cNvGrpSpPr/>
          <p:nvPr/>
        </p:nvGrpSpPr>
        <p:grpSpPr>
          <a:xfrm>
            <a:off x="438146" y="814387"/>
            <a:ext cx="1043380" cy="57150"/>
            <a:chOff x="438146" y="814387"/>
            <a:chExt cx="1043380" cy="57150"/>
          </a:xfrm>
        </p:grpSpPr>
        <p:sp>
          <p:nvSpPr>
            <p:cNvPr id="111" name="Google Shape;111;g37dcba7478a_1_1"/>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 name="Google Shape;112;g37dcba7478a_1_1"/>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7" name="Picture 6" descr="Sri Amaraavathi College of Arts &amp; Science">
            <a:extLst>
              <a:ext uri="{FF2B5EF4-FFF2-40B4-BE49-F238E27FC236}">
                <a16:creationId xmlns:a16="http://schemas.microsoft.com/office/drawing/2014/main" id="{955806ED-E32B-2958-88B8-ED6FB037A1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75" y="29221"/>
            <a:ext cx="1853352" cy="469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425446" y="498792"/>
            <a:ext cx="4301537" cy="48987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dirty="0"/>
              <a:t>Overall Communication Level</a:t>
            </a:r>
            <a:br>
              <a:rPr lang="en-US" sz="1600" dirty="0">
                <a:solidFill>
                  <a:schemeClr val="dk1"/>
                </a:solidFill>
              </a:rPr>
            </a:br>
            <a:endParaRPr lang="en-US" sz="1600" dirty="0">
              <a:solidFill>
                <a:schemeClr val="dk1"/>
              </a:solidFill>
            </a:endParaRPr>
          </a:p>
        </p:txBody>
      </p:sp>
      <p:sp>
        <p:nvSpPr>
          <p:cNvPr id="119" name="Google Shape;119;p23"/>
          <p:cNvSpPr txBox="1"/>
          <p:nvPr/>
        </p:nvSpPr>
        <p:spPr>
          <a:xfrm>
            <a:off x="213131" y="3343857"/>
            <a:ext cx="8517069" cy="1900264"/>
          </a:xfrm>
          <a:prstGeom prst="rect">
            <a:avLst/>
          </a:prstGeom>
          <a:noFill/>
          <a:ln>
            <a:noFill/>
          </a:ln>
        </p:spPr>
        <p:txBody>
          <a:bodyPr spcFirstLastPara="1" wrap="square" lIns="0" tIns="12700" rIns="0" bIns="0" anchor="t" anchorCtr="0">
            <a:spAutoFit/>
          </a:bodyPr>
          <a:lstStyle/>
          <a:p>
            <a:pPr marL="171450" indent="-171450" algn="just">
              <a:buFont typeface="Wingdings" panose="05000000000000000000" pitchFamily="2" charset="2"/>
              <a:buChar char="ü"/>
            </a:pPr>
            <a:r>
              <a:rPr lang="en-IN" sz="1100" dirty="0"/>
              <a:t>Students underwent focused training in communication skills, emphasizing clarity, confidence, and effectiveness in expression. Various activities and tasks were conducted to strengthen their Writing, Listening, Speaking, Reading, and Presentation abilities.</a:t>
            </a:r>
          </a:p>
          <a:p>
            <a:pPr marL="171450" indent="-171450" algn="just">
              <a:buFont typeface="Wingdings" panose="05000000000000000000" pitchFamily="2" charset="2"/>
              <a:buChar char="ü"/>
            </a:pPr>
            <a:r>
              <a:rPr lang="en-IN" sz="1100" dirty="0"/>
              <a:t>In the Communication Skills assessment based on CEFR levels, </a:t>
            </a:r>
            <a:r>
              <a:rPr lang="en-IN" sz="1100" b="1" dirty="0"/>
              <a:t>out of 46 students, 12 students are at A1 level, 25 students are at A2 level, 8 students have achieved B1 level, and 1 student has achieved B2 level</a:t>
            </a:r>
            <a:r>
              <a:rPr lang="en-IN" sz="1100" dirty="0"/>
              <a:t>. While the B1 and B2 students demonstrate higher levels of communicative competence, the majority of students (37 out of 46) are currently at the foundational stages (A1 and A2) and will require focused monitoring, additional guidance, and appropriate corrective measures to improve their communication proficiency in the forthcoming sessions.</a:t>
            </a:r>
          </a:p>
          <a:p>
            <a:pPr marL="171450" indent="-171450" algn="just">
              <a:buFont typeface="Wingdings" panose="05000000000000000000" pitchFamily="2" charset="2"/>
              <a:buChar char="ü"/>
            </a:pPr>
            <a:r>
              <a:rPr lang="en-IN" sz="1100" b="1" dirty="0"/>
              <a:t>Class Average: </a:t>
            </a:r>
            <a:r>
              <a:rPr lang="en-IN" sz="1100" dirty="0"/>
              <a:t>The class achieved a mix of foundational and intermediate levels, with a majority at A1 and A2, indicating the need for consistent practice, targeted support, and focused effort to strengthen key communication skills and progress to higher proficiency levels.</a:t>
            </a:r>
          </a:p>
          <a:p>
            <a:pPr marL="184150" marR="157480" lvl="0" indent="-171450" algn="just" rtl="0">
              <a:lnSpc>
                <a:spcPct val="115000"/>
              </a:lnSpc>
              <a:spcBef>
                <a:spcPts val="0"/>
              </a:spcBef>
              <a:spcAft>
                <a:spcPts val="0"/>
              </a:spcAft>
              <a:buClr>
                <a:srgbClr val="000000"/>
              </a:buClr>
              <a:buSzPts val="1100"/>
              <a:buFont typeface="Wingdings" panose="05000000000000000000" pitchFamily="2" charset="2"/>
              <a:buChar char="ü"/>
            </a:pPr>
            <a:endParaRPr sz="1100" b="0" i="0" u="none" strike="noStrike" cap="none" dirty="0">
              <a:solidFill>
                <a:schemeClr val="dk1"/>
              </a:solidFill>
              <a:latin typeface="Arial" panose="020B0604020202020204"/>
              <a:ea typeface="Arial" panose="020B0604020202020204"/>
              <a:cs typeface="Arial" panose="020B0604020202020204"/>
            </a:endParaRPr>
          </a:p>
        </p:txBody>
      </p:sp>
      <p:sp>
        <p:nvSpPr>
          <p:cNvPr id="120" name="Google Shape;120;p2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15</a:t>
            </a:fld>
            <a:endParaRPr lang="en-US"/>
          </a:p>
        </p:txBody>
      </p:sp>
      <p:grpSp>
        <p:nvGrpSpPr>
          <p:cNvPr id="121" name="Google Shape;121;p23"/>
          <p:cNvGrpSpPr/>
          <p:nvPr/>
        </p:nvGrpSpPr>
        <p:grpSpPr>
          <a:xfrm>
            <a:off x="438146" y="814387"/>
            <a:ext cx="1043380" cy="57150"/>
            <a:chOff x="438146" y="814387"/>
            <a:chExt cx="1043380" cy="57150"/>
          </a:xfrm>
        </p:grpSpPr>
        <p:sp>
          <p:nvSpPr>
            <p:cNvPr id="122" name="Google Shape;122;p2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 name="Google Shape;123;p2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3" name="Picture 2" descr="Sri Amaraavathi College of Arts &amp; Science">
            <a:extLst>
              <a:ext uri="{FF2B5EF4-FFF2-40B4-BE49-F238E27FC236}">
                <a16:creationId xmlns:a16="http://schemas.microsoft.com/office/drawing/2014/main" id="{EB71D7E1-3EEA-17E4-3DE3-8E8074536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75" y="29221"/>
            <a:ext cx="1853352" cy="4695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36C856D-1175-011B-888F-9290D8710D46}"/>
              </a:ext>
            </a:extLst>
          </p:cNvPr>
          <p:cNvPicPr>
            <a:picLocks noChangeAspect="1"/>
          </p:cNvPicPr>
          <p:nvPr/>
        </p:nvPicPr>
        <p:blipFill>
          <a:blip r:embed="rId4"/>
          <a:stretch>
            <a:fillRect/>
          </a:stretch>
        </p:blipFill>
        <p:spPr>
          <a:xfrm>
            <a:off x="2244680" y="814387"/>
            <a:ext cx="4832372" cy="245183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1839A72-6D31-322B-1DD6-B1AAE8C0950D}"/>
            </a:ext>
          </a:extLst>
        </p:cNvPr>
        <p:cNvGrpSpPr/>
        <p:nvPr/>
      </p:nvGrpSpPr>
      <p:grpSpPr>
        <a:xfrm>
          <a:off x="0" y="0"/>
          <a:ext cx="0" cy="0"/>
          <a:chOff x="0" y="0"/>
          <a:chExt cx="0" cy="0"/>
        </a:xfrm>
      </p:grpSpPr>
      <p:sp>
        <p:nvSpPr>
          <p:cNvPr id="130" name="Google Shape;130;p26">
            <a:extLst>
              <a:ext uri="{FF2B5EF4-FFF2-40B4-BE49-F238E27FC236}">
                <a16:creationId xmlns:a16="http://schemas.microsoft.com/office/drawing/2014/main" id="{09444500-5EFF-E21A-E24D-104EF13BB8D0}"/>
              </a:ext>
            </a:extLst>
          </p:cNvPr>
          <p:cNvSpPr txBox="1">
            <a:spLocks noGrp="1"/>
          </p:cNvSpPr>
          <p:nvPr>
            <p:ph type="title"/>
          </p:nvPr>
        </p:nvSpPr>
        <p:spPr>
          <a:xfrm>
            <a:off x="425446" y="498792"/>
            <a:ext cx="43014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Academic performance </a:t>
            </a:r>
          </a:p>
        </p:txBody>
      </p:sp>
      <p:sp>
        <p:nvSpPr>
          <p:cNvPr id="131" name="Google Shape;131;p26">
            <a:extLst>
              <a:ext uri="{FF2B5EF4-FFF2-40B4-BE49-F238E27FC236}">
                <a16:creationId xmlns:a16="http://schemas.microsoft.com/office/drawing/2014/main" id="{CE164F15-CB1A-E395-AC30-2356A5582B92}"/>
              </a:ext>
            </a:extLst>
          </p:cNvPr>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16</a:t>
            </a:fld>
            <a:endParaRPr lang="en-US"/>
          </a:p>
        </p:txBody>
      </p:sp>
      <p:grpSp>
        <p:nvGrpSpPr>
          <p:cNvPr id="133" name="Google Shape;133;p26">
            <a:extLst>
              <a:ext uri="{FF2B5EF4-FFF2-40B4-BE49-F238E27FC236}">
                <a16:creationId xmlns:a16="http://schemas.microsoft.com/office/drawing/2014/main" id="{3C34F4BC-5393-94AA-9B80-11D843AFD561}"/>
              </a:ext>
            </a:extLst>
          </p:cNvPr>
          <p:cNvGrpSpPr/>
          <p:nvPr/>
        </p:nvGrpSpPr>
        <p:grpSpPr>
          <a:xfrm>
            <a:off x="438146" y="814387"/>
            <a:ext cx="1043380" cy="57150"/>
            <a:chOff x="438146" y="814387"/>
            <a:chExt cx="1043380" cy="57150"/>
          </a:xfrm>
        </p:grpSpPr>
        <p:sp>
          <p:nvSpPr>
            <p:cNvPr id="134" name="Google Shape;134;p26">
              <a:extLst>
                <a:ext uri="{FF2B5EF4-FFF2-40B4-BE49-F238E27FC236}">
                  <a16:creationId xmlns:a16="http://schemas.microsoft.com/office/drawing/2014/main" id="{91CAA98E-F464-9BF2-466C-B928656C9E8A}"/>
                </a:ext>
              </a:extLst>
            </p:cNvPr>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 name="Google Shape;135;p26">
              <a:extLst>
                <a:ext uri="{FF2B5EF4-FFF2-40B4-BE49-F238E27FC236}">
                  <a16:creationId xmlns:a16="http://schemas.microsoft.com/office/drawing/2014/main" id="{BFC97A79-937D-1E32-6ACC-E5529410F750}"/>
                </a:ext>
              </a:extLst>
            </p:cNvPr>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 name="Google Shape;136;p26">
            <a:extLst>
              <a:ext uri="{FF2B5EF4-FFF2-40B4-BE49-F238E27FC236}">
                <a16:creationId xmlns:a16="http://schemas.microsoft.com/office/drawing/2014/main" id="{8B878DA7-70CF-5C63-463E-41C71E050468}"/>
              </a:ext>
            </a:extLst>
          </p:cNvPr>
          <p:cNvSpPr txBox="1"/>
          <p:nvPr/>
        </p:nvSpPr>
        <p:spPr>
          <a:xfrm>
            <a:off x="381573" y="3362867"/>
            <a:ext cx="8666174" cy="1674817"/>
          </a:xfrm>
          <a:prstGeom prst="rect">
            <a:avLst/>
          </a:prstGeom>
          <a:noFill/>
          <a:ln>
            <a:noFill/>
          </a:ln>
        </p:spPr>
        <p:txBody>
          <a:bodyPr spcFirstLastPara="1" wrap="square" lIns="0" tIns="12700" rIns="0" bIns="0" anchor="t" anchorCtr="0">
            <a:spAutoFit/>
          </a:bodyPr>
          <a:lstStyle/>
          <a:p>
            <a:r>
              <a:rPr lang="en-IN" sz="1200" b="1" dirty="0"/>
              <a:t>Aptitude &amp; Verbal:</a:t>
            </a:r>
            <a:br>
              <a:rPr lang="en-IN" sz="1200" dirty="0"/>
            </a:br>
            <a:r>
              <a:rPr lang="en-IN" sz="1200" dirty="0"/>
              <a:t>In Aptitude &amp; Verbal, based on the assessments conducted in May 2026, out of 46 students, the performance distribution across percentage brackets shows that the majority of students scored in the lower ranges (0–40%). Only a few students managed to score above 60%, indicating a widespread and critical need for improvement across the class. Students struggled significantly with logical reasoning, numerical ability, time management, reading comprehension, grammar, and vocabulary. Key contributing factors include irregular practice, limited reading exposure, lack of test-taking strategies, and low confidence in attempting unfamiliar question types. Therefore, most students require focused interventions such as weekly quizzes, remedial sessions, daily practice worksheets, peer-assisted learning, and biweekly mock tests to strengthen their aptitude and verbal reasoning skills in the forthcoming sessions.</a:t>
            </a:r>
            <a:endParaRPr lang="en-US"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3" name="Picture 2" descr="Sri Amaraavathi College of Arts &amp; Science">
            <a:extLst>
              <a:ext uri="{FF2B5EF4-FFF2-40B4-BE49-F238E27FC236}">
                <a16:creationId xmlns:a16="http://schemas.microsoft.com/office/drawing/2014/main" id="{999EF8B4-7D6C-9BD1-3687-E6455B054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156" y="46053"/>
            <a:ext cx="1853352" cy="4695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5FD9205-41DB-A901-F4E5-5DBB02C7A795}"/>
              </a:ext>
            </a:extLst>
          </p:cNvPr>
          <p:cNvPicPr>
            <a:picLocks noChangeAspect="1"/>
          </p:cNvPicPr>
          <p:nvPr/>
        </p:nvPicPr>
        <p:blipFill>
          <a:blip r:embed="rId4"/>
          <a:stretch>
            <a:fillRect/>
          </a:stretch>
        </p:blipFill>
        <p:spPr>
          <a:xfrm>
            <a:off x="2099727" y="800943"/>
            <a:ext cx="5066702" cy="2518973"/>
          </a:xfrm>
          <a:prstGeom prst="rect">
            <a:avLst/>
          </a:prstGeom>
        </p:spPr>
      </p:pic>
    </p:spTree>
    <p:extLst>
      <p:ext uri="{BB962C8B-B14F-4D97-AF65-F5344CB8AC3E}">
        <p14:creationId xmlns:p14="http://schemas.microsoft.com/office/powerpoint/2010/main" val="3693893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2"/>
          <p:cNvSpPr txBox="1"/>
          <p:nvPr/>
        </p:nvSpPr>
        <p:spPr>
          <a:xfrm>
            <a:off x="8235898" y="435875"/>
            <a:ext cx="676800" cy="166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000"/>
              <a:buFont typeface="Arial" panose="020B0604020202020204"/>
              <a:buNone/>
            </a:pPr>
            <a:r>
              <a:rPr lang="en-US"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CAMPUS</a:t>
            </a:r>
            <a:endParaRPr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p:txBody>
      </p:sp>
      <p:sp>
        <p:nvSpPr>
          <p:cNvPr id="87" name="Google Shape;87;p22"/>
          <p:cNvSpPr txBox="1">
            <a:spLocks noGrp="1"/>
          </p:cNvSpPr>
          <p:nvPr>
            <p:ph type="title"/>
          </p:nvPr>
        </p:nvSpPr>
        <p:spPr>
          <a:xfrm>
            <a:off x="196948" y="1653075"/>
            <a:ext cx="8715750" cy="1054135"/>
          </a:xfrm>
          <a:prstGeom prst="rect">
            <a:avLst/>
          </a:prstGeom>
          <a:noFill/>
          <a:ln>
            <a:noFill/>
          </a:ln>
        </p:spPr>
        <p:txBody>
          <a:bodyPr spcFirstLastPara="1" wrap="square" lIns="0" tIns="12700" rIns="0" bIns="0" anchor="t" anchorCtr="0">
            <a:spAutoFit/>
          </a:bodyPr>
          <a:lstStyle/>
          <a:p>
            <a:pPr marL="12065" marR="5080" lvl="0" algn="ctr">
              <a:lnSpc>
                <a:spcPct val="165000"/>
              </a:lnSpc>
              <a:spcBef>
                <a:spcPts val="220"/>
              </a:spcBef>
            </a:pPr>
            <a:r>
              <a:rPr lang="en-US" sz="2000" b="0" dirty="0">
                <a:solidFill>
                  <a:schemeClr val="tx1"/>
                </a:solidFill>
                <a:latin typeface="Arial" panose="020B0604020202020204"/>
                <a:ea typeface="Arial" panose="020B0604020202020204"/>
                <a:cs typeface="Arial" panose="020B0604020202020204"/>
                <a:sym typeface="Arial" panose="020B0604020202020204"/>
              </a:rPr>
              <a:t>I </a:t>
            </a:r>
            <a:r>
              <a:rPr lang="en-US" sz="2000" dirty="0">
                <a:solidFill>
                  <a:schemeClr val="tx1"/>
                </a:solidFill>
              </a:rPr>
              <a:t>Bachelor of Science (Artificial Intelligence and Machine Learning)</a:t>
            </a:r>
            <a:br>
              <a:rPr lang="en-US" sz="2000" dirty="0">
                <a:solidFill>
                  <a:schemeClr val="tx1"/>
                </a:solidFill>
              </a:rPr>
            </a:br>
            <a:r>
              <a:rPr lang="en-US" sz="2000" b="0" dirty="0">
                <a:solidFill>
                  <a:srgbClr val="000000"/>
                </a:solidFill>
                <a:latin typeface="Arial" panose="020B0604020202020204"/>
                <a:ea typeface="Arial" panose="020B0604020202020204"/>
                <a:cs typeface="Arial" panose="020B0604020202020204"/>
                <a:sym typeface="Arial" panose="020B0604020202020204"/>
              </a:rPr>
              <a:t>2025 - 2028</a:t>
            </a:r>
            <a:endParaRPr sz="2000" dirty="0">
              <a:latin typeface="Arial" panose="020B0604020202020204"/>
              <a:ea typeface="Arial" panose="020B0604020202020204"/>
              <a:cs typeface="Arial" panose="020B0604020202020204"/>
              <a:sym typeface="Arial" panose="020B0604020202020204"/>
            </a:endParaRPr>
          </a:p>
        </p:txBody>
      </p:sp>
      <p:sp>
        <p:nvSpPr>
          <p:cNvPr id="88" name="Google Shape;88;p22"/>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17</a:t>
            </a:fld>
            <a:endParaRPr lang="en-US"/>
          </a:p>
        </p:txBody>
      </p:sp>
      <p:pic>
        <p:nvPicPr>
          <p:cNvPr id="3" name="Picture 2" descr="Sri Amaraavathi College of Arts &amp; Science">
            <a:extLst>
              <a:ext uri="{FF2B5EF4-FFF2-40B4-BE49-F238E27FC236}">
                <a16:creationId xmlns:a16="http://schemas.microsoft.com/office/drawing/2014/main" id="{6949CE5C-1048-E5EC-0A69-F941BF472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12" y="67154"/>
            <a:ext cx="2427856" cy="6151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425446" y="498792"/>
            <a:ext cx="3093097" cy="2590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dirty="0"/>
              <a:t>Overall Attendance:</a:t>
            </a:r>
            <a:endParaRPr dirty="0"/>
          </a:p>
        </p:txBody>
      </p:sp>
      <p:sp>
        <p:nvSpPr>
          <p:cNvPr id="96" name="Google Shape;96;p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18</a:t>
            </a:fld>
            <a:endParaRPr lang="en-US"/>
          </a:p>
        </p:txBody>
      </p:sp>
      <p:grpSp>
        <p:nvGrpSpPr>
          <p:cNvPr id="2" name="Google Shape;97;p3"/>
          <p:cNvGrpSpPr/>
          <p:nvPr/>
        </p:nvGrpSpPr>
        <p:grpSpPr>
          <a:xfrm>
            <a:off x="438146" y="814387"/>
            <a:ext cx="1043380" cy="57150"/>
            <a:chOff x="438146" y="814387"/>
            <a:chExt cx="1043380" cy="57150"/>
          </a:xfrm>
        </p:grpSpPr>
        <p:sp>
          <p:nvSpPr>
            <p:cNvPr id="98" name="Google Shape;98;p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 name="Rectangle 9"/>
          <p:cNvSpPr/>
          <p:nvPr/>
        </p:nvSpPr>
        <p:spPr>
          <a:xfrm>
            <a:off x="135467" y="3423474"/>
            <a:ext cx="8890000" cy="1754326"/>
          </a:xfrm>
          <a:prstGeom prst="rect">
            <a:avLst/>
          </a:prstGeom>
        </p:spPr>
        <p:txBody>
          <a:bodyPr wrap="square">
            <a:spAutoFit/>
          </a:bodyPr>
          <a:lstStyle/>
          <a:p>
            <a:pPr marL="171450" indent="-171450" algn="just">
              <a:buFont typeface="Wingdings" panose="05000000000000000000" pitchFamily="2" charset="2"/>
              <a:buChar char="Ø"/>
            </a:pPr>
            <a:r>
              <a:rPr lang="en-IN" sz="1200" dirty="0"/>
              <a:t>Based on the attendance records, out of a total of 24 students, only 1 student (4.17%) has maintained attendance in the Excellent category (90-100%) and 7 students (29.17%) in the Good category (80-89%). This indicates a significant decline in attendance compared to previous months. However, 16 students (66.67%) have recorded attendance below 75% in the Poor category, which is a serious area of concern. These students will require focused monitoring, additional guidance, and appropriate corrective measures to improve their attendance and overall academic participation.</a:t>
            </a:r>
          </a:p>
          <a:p>
            <a:pPr marL="171450" indent="-171450" algn="just">
              <a:buFont typeface="Wingdings" panose="05000000000000000000" pitchFamily="2" charset="2"/>
              <a:buChar char="Ø"/>
            </a:pPr>
            <a:r>
              <a:rPr lang="en-IN" sz="1200" b="1" dirty="0"/>
              <a:t>Average: </a:t>
            </a:r>
            <a:r>
              <a:rPr lang="en-IN" sz="1200" dirty="0"/>
              <a:t>The class recorded a poor attendance rate, </a:t>
            </a:r>
            <a:r>
              <a:rPr lang="en-IN" sz="1200" b="1" dirty="0"/>
              <a:t>with the majority of students (66.67%) </a:t>
            </a:r>
            <a:r>
              <a:rPr lang="en-IN" sz="1200" dirty="0"/>
              <a:t>falling in the Poor category. Immediate interventions, regular counselling, and parent-teacher meetings are recommended to address this declining trend and improve overall engagement.</a:t>
            </a:r>
          </a:p>
          <a:p>
            <a:pPr marL="171450" indent="-171450" algn="just">
              <a:buFont typeface="Wingdings" panose="05000000000000000000" pitchFamily="2" charset="2"/>
              <a:buChar char="Ø"/>
            </a:pPr>
            <a:endParaRPr lang="en-US" altLang="en-GB" sz="1200" dirty="0">
              <a:latin typeface="+mj-lt"/>
            </a:endParaRPr>
          </a:p>
        </p:txBody>
      </p:sp>
      <p:pic>
        <p:nvPicPr>
          <p:cNvPr id="7" name="Picture 6" descr="Sri Amaraavathi College of Arts &amp; Science">
            <a:extLst>
              <a:ext uri="{FF2B5EF4-FFF2-40B4-BE49-F238E27FC236}">
                <a16:creationId xmlns:a16="http://schemas.microsoft.com/office/drawing/2014/main" id="{472C51F5-FF12-38CC-E27D-1E28E5FBB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418" y="46032"/>
            <a:ext cx="1636215" cy="4145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BAF44C9-0E9E-0BF2-AB04-71CA8411F26A}"/>
              </a:ext>
            </a:extLst>
          </p:cNvPr>
          <p:cNvPicPr>
            <a:picLocks noChangeAspect="1"/>
          </p:cNvPicPr>
          <p:nvPr/>
        </p:nvPicPr>
        <p:blipFill>
          <a:blip r:embed="rId4"/>
          <a:stretch>
            <a:fillRect/>
          </a:stretch>
        </p:blipFill>
        <p:spPr>
          <a:xfrm>
            <a:off x="1971994" y="842962"/>
            <a:ext cx="5111372" cy="25805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425446" y="498792"/>
            <a:ext cx="3093097" cy="2590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dirty="0"/>
              <a:t>Technical Evaluation</a:t>
            </a:r>
            <a:endParaRPr dirty="0"/>
          </a:p>
        </p:txBody>
      </p:sp>
      <p:sp>
        <p:nvSpPr>
          <p:cNvPr id="95" name="Google Shape;95;p3"/>
          <p:cNvSpPr txBox="1"/>
          <p:nvPr/>
        </p:nvSpPr>
        <p:spPr>
          <a:xfrm>
            <a:off x="491025" y="3655277"/>
            <a:ext cx="8248800" cy="1490152"/>
          </a:xfrm>
          <a:prstGeom prst="rect">
            <a:avLst/>
          </a:prstGeom>
          <a:noFill/>
          <a:ln>
            <a:noFill/>
          </a:ln>
        </p:spPr>
        <p:txBody>
          <a:bodyPr spcFirstLastPara="1" wrap="square" lIns="0" tIns="12700" rIns="0" bIns="0" anchor="t" anchorCtr="0">
            <a:spAutoFit/>
          </a:bodyPr>
          <a:lstStyle/>
          <a:p>
            <a:pPr marL="171450" indent="-171450" algn="just">
              <a:buFont typeface="Wingdings" panose="05000000000000000000" pitchFamily="2" charset="2"/>
              <a:buChar char="v"/>
            </a:pPr>
            <a:r>
              <a:rPr lang="en-IN" sz="1200" dirty="0"/>
              <a:t>Students underwent rigorous training in coding skills using </a:t>
            </a:r>
            <a:r>
              <a:rPr lang="en-IN" sz="1200" b="1" dirty="0"/>
              <a:t>OOP Java</a:t>
            </a:r>
            <a:r>
              <a:rPr lang="en-IN" sz="1200" dirty="0"/>
              <a:t>, </a:t>
            </a:r>
            <a:r>
              <a:rPr lang="en-IN" sz="1200" b="1" dirty="0"/>
              <a:t>Frontend Development (HTML, CSS)</a:t>
            </a:r>
            <a:r>
              <a:rPr lang="en-IN" sz="1200" dirty="0"/>
              <a:t>, and </a:t>
            </a:r>
            <a:r>
              <a:rPr lang="en-IN" sz="1200" b="1" dirty="0"/>
              <a:t>Leet Code</a:t>
            </a:r>
            <a:r>
              <a:rPr lang="en-IN" sz="1200" dirty="0"/>
              <a:t>, focusing on solving real-world problems. A total of </a:t>
            </a:r>
            <a:r>
              <a:rPr lang="en-IN" sz="1200" b="1" dirty="0"/>
              <a:t>22 Leet Code homework problems</a:t>
            </a:r>
            <a:r>
              <a:rPr lang="en-IN" sz="1200" dirty="0"/>
              <a:t> were assigned, along with </a:t>
            </a:r>
            <a:r>
              <a:rPr lang="en-IN" sz="1200" b="1" dirty="0"/>
              <a:t>4 Frontend Development tasks</a:t>
            </a:r>
            <a:r>
              <a:rPr lang="en-IN" sz="1200" dirty="0"/>
              <a:t>, to enhance their technical proficiency and problem-solving abilities.</a:t>
            </a:r>
          </a:p>
          <a:p>
            <a:pPr marL="171450" indent="-171450" algn="just">
              <a:buFont typeface="Wingdings" panose="05000000000000000000" pitchFamily="2" charset="2"/>
              <a:buChar char="v"/>
            </a:pPr>
            <a:r>
              <a:rPr lang="en-IN" sz="1200" dirty="0"/>
              <a:t>On average, students successfully solved </a:t>
            </a:r>
            <a:r>
              <a:rPr lang="en-IN" sz="1200" b="1" dirty="0"/>
              <a:t>11 out of 22 Leet Code problems</a:t>
            </a:r>
            <a:r>
              <a:rPr lang="en-IN" sz="1200" dirty="0"/>
              <a:t> and completed </a:t>
            </a:r>
            <a:r>
              <a:rPr lang="en-IN" sz="1200" b="1" dirty="0"/>
              <a:t>1 out of 4 Frontend Development tasks</a:t>
            </a:r>
            <a:r>
              <a:rPr lang="en-IN" sz="1200" dirty="0"/>
              <a:t>, indicating a moderate level of performance with significant room for improvement. While several students demonstrated strong coding skills by achieving high scores, a few students showed lower participation and consistency, highlighting the need for additional practice and targeted support to improve overall performance.</a:t>
            </a:r>
          </a:p>
          <a:p>
            <a:pPr marL="171450" indent="-171450" algn="just">
              <a:buFont typeface="Wingdings" panose="05000000000000000000" pitchFamily="2" charset="2"/>
              <a:buChar char="v"/>
            </a:pPr>
            <a:endParaRPr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96" name="Google Shape;96;p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19</a:t>
            </a:fld>
            <a:endParaRPr lang="en-US"/>
          </a:p>
        </p:txBody>
      </p:sp>
      <p:grpSp>
        <p:nvGrpSpPr>
          <p:cNvPr id="97" name="Google Shape;97;p3"/>
          <p:cNvGrpSpPr/>
          <p:nvPr/>
        </p:nvGrpSpPr>
        <p:grpSpPr>
          <a:xfrm>
            <a:off x="438146" y="814387"/>
            <a:ext cx="1043380" cy="57150"/>
            <a:chOff x="438146" y="814387"/>
            <a:chExt cx="1043380" cy="57150"/>
          </a:xfrm>
        </p:grpSpPr>
        <p:sp>
          <p:nvSpPr>
            <p:cNvPr id="98" name="Google Shape;98;p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9" name="Picture 8" descr="Sri Amaraavathi College of Arts &amp; Science">
            <a:extLst>
              <a:ext uri="{FF2B5EF4-FFF2-40B4-BE49-F238E27FC236}">
                <a16:creationId xmlns:a16="http://schemas.microsoft.com/office/drawing/2014/main" id="{D800A408-EF6F-0332-072B-D4C881462D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418" y="79375"/>
            <a:ext cx="1636215" cy="41455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55EC446-5BFE-F5B8-19D0-5B56E723CC6F}"/>
              </a:ext>
            </a:extLst>
          </p:cNvPr>
          <p:cNvPicPr>
            <a:picLocks noChangeAspect="1"/>
          </p:cNvPicPr>
          <p:nvPr/>
        </p:nvPicPr>
        <p:blipFill>
          <a:blip r:embed="rId4"/>
          <a:stretch>
            <a:fillRect/>
          </a:stretch>
        </p:blipFill>
        <p:spPr>
          <a:xfrm>
            <a:off x="201458" y="997021"/>
            <a:ext cx="4196349" cy="2305372"/>
          </a:xfrm>
          <a:prstGeom prst="rect">
            <a:avLst/>
          </a:prstGeom>
        </p:spPr>
      </p:pic>
      <p:pic>
        <p:nvPicPr>
          <p:cNvPr id="5" name="Picture 4">
            <a:extLst>
              <a:ext uri="{FF2B5EF4-FFF2-40B4-BE49-F238E27FC236}">
                <a16:creationId xmlns:a16="http://schemas.microsoft.com/office/drawing/2014/main" id="{FDCE5580-CA1F-E3CB-BC26-4B62253F368A}"/>
              </a:ext>
            </a:extLst>
          </p:cNvPr>
          <p:cNvPicPr>
            <a:picLocks noChangeAspect="1"/>
          </p:cNvPicPr>
          <p:nvPr/>
        </p:nvPicPr>
        <p:blipFill>
          <a:blip r:embed="rId5"/>
          <a:stretch>
            <a:fillRect/>
          </a:stretch>
        </p:blipFill>
        <p:spPr>
          <a:xfrm>
            <a:off x="4572000" y="997021"/>
            <a:ext cx="4370542" cy="230537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7dcba7478a_1_1"/>
          <p:cNvSpPr txBox="1">
            <a:spLocks noGrp="1"/>
          </p:cNvSpPr>
          <p:nvPr>
            <p:ph type="title"/>
          </p:nvPr>
        </p:nvSpPr>
        <p:spPr>
          <a:xfrm>
            <a:off x="425446" y="498792"/>
            <a:ext cx="30930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Technical Evaluation</a:t>
            </a:r>
          </a:p>
        </p:txBody>
      </p:sp>
      <p:sp>
        <p:nvSpPr>
          <p:cNvPr id="108" name="Google Shape;108;g37dcba7478a_1_1"/>
          <p:cNvSpPr txBox="1"/>
          <p:nvPr/>
        </p:nvSpPr>
        <p:spPr>
          <a:xfrm>
            <a:off x="405966" y="3100848"/>
            <a:ext cx="8248800" cy="1859483"/>
          </a:xfrm>
          <a:prstGeom prst="rect">
            <a:avLst/>
          </a:prstGeom>
          <a:noFill/>
          <a:ln>
            <a:noFill/>
          </a:ln>
        </p:spPr>
        <p:txBody>
          <a:bodyPr spcFirstLastPara="1" wrap="square" lIns="0" tIns="12700" rIns="0" bIns="0" anchor="t" anchorCtr="0">
            <a:spAutoFit/>
          </a:bodyPr>
          <a:lstStyle/>
          <a:p>
            <a:pPr marL="171450" indent="-171450">
              <a:buFont typeface="Wingdings" panose="05000000000000000000" pitchFamily="2" charset="2"/>
              <a:buChar char="Ø"/>
            </a:pPr>
            <a:r>
              <a:rPr lang="en-IN" sz="1200" b="1" dirty="0"/>
              <a:t>Evaluation:</a:t>
            </a:r>
            <a:r>
              <a:rPr lang="en-IN" sz="1200" dirty="0"/>
              <a:t> Each student's performance was assessed based on the number of problems solved, tasks completed, and the depth of understanding demonstrated. Scores were then converted into percentages to ensure accurate and detailed progress tracking.</a:t>
            </a:r>
          </a:p>
          <a:p>
            <a:pPr marL="171450" indent="-171450">
              <a:buFont typeface="Wingdings" panose="05000000000000000000" pitchFamily="2" charset="2"/>
              <a:buChar char="Ø"/>
            </a:pPr>
            <a:r>
              <a:rPr lang="en-IN" sz="1200" b="1" dirty="0"/>
              <a:t>Class Average:</a:t>
            </a:r>
            <a:r>
              <a:rPr lang="en-IN" sz="1200" dirty="0"/>
              <a:t> The class achieved an average score of </a:t>
            </a:r>
            <a:r>
              <a:rPr lang="en-IN" sz="1200" b="1" dirty="0"/>
              <a:t>60.53%</a:t>
            </a:r>
            <a:r>
              <a:rPr lang="en-IN" sz="1200" dirty="0"/>
              <a:t>, reflecting a developing level of coding capability with opportunities for further growth.</a:t>
            </a:r>
          </a:p>
          <a:p>
            <a:pPr marL="171450" indent="-171450">
              <a:buFont typeface="Wingdings" panose="05000000000000000000" pitchFamily="2" charset="2"/>
              <a:buChar char="Ø"/>
            </a:pPr>
            <a:r>
              <a:rPr lang="en-IN" sz="1200" b="1" dirty="0"/>
              <a:t>Profile Building Report</a:t>
            </a:r>
            <a:br>
              <a:rPr lang="en-IN" sz="1200" dirty="0"/>
            </a:br>
            <a:r>
              <a:rPr lang="en-IN" sz="1200" dirty="0"/>
              <a:t>Students focused on enhancing their coding profiles by actively engaging in problem-solving on </a:t>
            </a:r>
            <a:r>
              <a:rPr lang="en-IN" sz="1200" b="1" dirty="0"/>
              <a:t>Leet Code</a:t>
            </a:r>
            <a:r>
              <a:rPr lang="en-IN" sz="1200" dirty="0"/>
              <a:t> and building practical frontend development skills using </a:t>
            </a:r>
            <a:r>
              <a:rPr lang="en-IN" sz="1200" b="1" dirty="0"/>
              <a:t>HTML and CSS</a:t>
            </a:r>
            <a:r>
              <a:rPr lang="en-IN" sz="1200" dirty="0"/>
              <a:t>. Each student successfully solved problems and completed tasks across both areas, demonstrating their technical skills and boosting their online presence.</a:t>
            </a:r>
          </a:p>
          <a:p>
            <a:pPr marL="171450" indent="-171450" algn="just">
              <a:buFont typeface="Wingdings" panose="05000000000000000000" pitchFamily="2" charset="2"/>
              <a:buChar char="Ø"/>
            </a:pPr>
            <a:endParaRPr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109" name="Google Shape;109;g37dcba7478a_1_1"/>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20</a:t>
            </a:fld>
            <a:endParaRPr lang="en-US"/>
          </a:p>
        </p:txBody>
      </p:sp>
      <p:grpSp>
        <p:nvGrpSpPr>
          <p:cNvPr id="110" name="Google Shape;110;g37dcba7478a_1_1"/>
          <p:cNvGrpSpPr/>
          <p:nvPr/>
        </p:nvGrpSpPr>
        <p:grpSpPr>
          <a:xfrm>
            <a:off x="438146" y="814387"/>
            <a:ext cx="1043380" cy="57150"/>
            <a:chOff x="438146" y="814387"/>
            <a:chExt cx="1043380" cy="57150"/>
          </a:xfrm>
        </p:grpSpPr>
        <p:sp>
          <p:nvSpPr>
            <p:cNvPr id="111" name="Google Shape;111;g37dcba7478a_1_1"/>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 name="Google Shape;112;g37dcba7478a_1_1"/>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7" name="Picture 6" descr="Sri Amaraavathi College of Arts &amp; Science">
            <a:extLst>
              <a:ext uri="{FF2B5EF4-FFF2-40B4-BE49-F238E27FC236}">
                <a16:creationId xmlns:a16="http://schemas.microsoft.com/office/drawing/2014/main" id="{55F111EB-82DD-C3E8-8231-CA884F94CF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75" y="50624"/>
            <a:ext cx="1636215" cy="4145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67A2B8C-4F94-BC61-8A9F-6787C7DDD1D0}"/>
              </a:ext>
            </a:extLst>
          </p:cNvPr>
          <p:cNvPicPr>
            <a:picLocks noChangeAspect="1"/>
          </p:cNvPicPr>
          <p:nvPr/>
        </p:nvPicPr>
        <p:blipFill>
          <a:blip r:embed="rId4"/>
          <a:stretch>
            <a:fillRect/>
          </a:stretch>
        </p:blipFill>
        <p:spPr>
          <a:xfrm>
            <a:off x="1891523" y="871537"/>
            <a:ext cx="4981923" cy="211576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425446" y="498792"/>
            <a:ext cx="4301537" cy="48987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Overall Communication Level</a:t>
            </a:r>
            <a:br>
              <a:rPr lang="en-US" sz="1600">
                <a:solidFill>
                  <a:schemeClr val="dk1"/>
                </a:solidFill>
              </a:rPr>
            </a:br>
            <a:endParaRPr lang="en-US" sz="1600">
              <a:solidFill>
                <a:schemeClr val="dk1"/>
              </a:solidFill>
            </a:endParaRPr>
          </a:p>
        </p:txBody>
      </p:sp>
      <p:sp>
        <p:nvSpPr>
          <p:cNvPr id="119" name="Google Shape;119;p23"/>
          <p:cNvSpPr txBox="1"/>
          <p:nvPr/>
        </p:nvSpPr>
        <p:spPr>
          <a:xfrm>
            <a:off x="481400" y="3134307"/>
            <a:ext cx="8248800" cy="1900264"/>
          </a:xfrm>
          <a:prstGeom prst="rect">
            <a:avLst/>
          </a:prstGeom>
          <a:noFill/>
          <a:ln>
            <a:noFill/>
          </a:ln>
        </p:spPr>
        <p:txBody>
          <a:bodyPr spcFirstLastPara="1" wrap="square" lIns="0" tIns="12700" rIns="0" bIns="0" anchor="t" anchorCtr="0">
            <a:spAutoFit/>
          </a:bodyPr>
          <a:lstStyle/>
          <a:p>
            <a:pPr marL="171450" indent="-171450">
              <a:buFont typeface="Wingdings" panose="05000000000000000000" pitchFamily="2" charset="2"/>
              <a:buChar char="ü"/>
            </a:pPr>
            <a:r>
              <a:rPr lang="en-IN" sz="1100" dirty="0"/>
              <a:t>Students underwent focused training in communication skills, emphasizing clarity, confidence, and effectiveness in expression. Various activities and tasks were conducted to strengthen their Writing, Listening, Speaking, Reading, and Presentation abilities.</a:t>
            </a:r>
          </a:p>
          <a:p>
            <a:pPr marL="171450" indent="-171450">
              <a:buFont typeface="Wingdings" panose="05000000000000000000" pitchFamily="2" charset="2"/>
              <a:buChar char="ü"/>
            </a:pPr>
            <a:r>
              <a:rPr lang="en-IN" sz="1100" dirty="0"/>
              <a:t>Based on the CEFR assessment, out of a total of 24 students, </a:t>
            </a:r>
            <a:r>
              <a:rPr lang="en-IN" sz="1100" b="1" dirty="0"/>
              <a:t>2 students are at A1 level, 13 students are at A2 level, 8 students have achieved B1 level, and 1 student has achieved B2 level</a:t>
            </a:r>
            <a:r>
              <a:rPr lang="en-IN" sz="1100" dirty="0"/>
              <a:t>. While the B1 and B2 students demonstrate higher levels of communicative competence, the majority of students (15 out of 24) are currently at the foundational stages (A1 and A2) and will require focused monitoring, additional guidance, and appropriate corrective measures to improve their communication proficiency in the forthcoming sessions.</a:t>
            </a:r>
          </a:p>
          <a:p>
            <a:pPr marL="171450" indent="-171450">
              <a:buFont typeface="Wingdings" panose="05000000000000000000" pitchFamily="2" charset="2"/>
              <a:buChar char="ü"/>
            </a:pPr>
            <a:r>
              <a:rPr lang="en-IN" sz="1100" b="1" dirty="0"/>
              <a:t>Class Average: </a:t>
            </a:r>
            <a:r>
              <a:rPr lang="en-IN" sz="1100" dirty="0"/>
              <a:t>The class recorded a mix of foundational and intermediate levels, with a majority at A2 level, indicating steady progress while also highlighting the need for consistent practice and focused effort to strengthen key communication skills across all domains.</a:t>
            </a:r>
          </a:p>
          <a:p>
            <a:pPr marL="184150" marR="157480" lvl="0" indent="-171450" algn="just" rtl="0">
              <a:lnSpc>
                <a:spcPct val="115000"/>
              </a:lnSpc>
              <a:spcBef>
                <a:spcPts val="0"/>
              </a:spcBef>
              <a:spcAft>
                <a:spcPts val="0"/>
              </a:spcAft>
              <a:buClr>
                <a:srgbClr val="000000"/>
              </a:buClr>
              <a:buSzPts val="1100"/>
              <a:buFont typeface="Wingdings" panose="05000000000000000000" pitchFamily="2" charset="2"/>
              <a:buChar char="ü"/>
            </a:pPr>
            <a:endParaRPr lang="en-US" altLang="en-GB" sz="1100" b="0" i="0" u="none" strike="noStrike" cap="none" dirty="0">
              <a:solidFill>
                <a:schemeClr val="dk1"/>
              </a:solidFill>
              <a:latin typeface="Arial" panose="020B0604020202020204"/>
              <a:ea typeface="Arial" panose="020B0604020202020204"/>
              <a:cs typeface="Arial" panose="020B0604020202020204"/>
            </a:endParaRPr>
          </a:p>
        </p:txBody>
      </p:sp>
      <p:sp>
        <p:nvSpPr>
          <p:cNvPr id="120" name="Google Shape;120;p2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21</a:t>
            </a:fld>
            <a:endParaRPr lang="en-US"/>
          </a:p>
        </p:txBody>
      </p:sp>
      <p:grpSp>
        <p:nvGrpSpPr>
          <p:cNvPr id="121" name="Google Shape;121;p23"/>
          <p:cNvGrpSpPr/>
          <p:nvPr/>
        </p:nvGrpSpPr>
        <p:grpSpPr>
          <a:xfrm>
            <a:off x="438146" y="814387"/>
            <a:ext cx="1043380" cy="57150"/>
            <a:chOff x="438146" y="814387"/>
            <a:chExt cx="1043380" cy="57150"/>
          </a:xfrm>
        </p:grpSpPr>
        <p:sp>
          <p:nvSpPr>
            <p:cNvPr id="122" name="Google Shape;122;p2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 name="Google Shape;123;p2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4" name="Picture 3" descr="Sri Amaraavathi College of Arts &amp; Science">
            <a:extLst>
              <a:ext uri="{FF2B5EF4-FFF2-40B4-BE49-F238E27FC236}">
                <a16:creationId xmlns:a16="http://schemas.microsoft.com/office/drawing/2014/main" id="{AFA8DC27-7784-550D-5357-57709404B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75" y="50624"/>
            <a:ext cx="1636215" cy="41455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3571307-3B17-2D7B-F78B-2623B4924064}"/>
              </a:ext>
            </a:extLst>
          </p:cNvPr>
          <p:cNvPicPr>
            <a:picLocks noChangeAspect="1"/>
          </p:cNvPicPr>
          <p:nvPr/>
        </p:nvPicPr>
        <p:blipFill>
          <a:blip r:embed="rId4"/>
          <a:stretch>
            <a:fillRect/>
          </a:stretch>
        </p:blipFill>
        <p:spPr>
          <a:xfrm>
            <a:off x="2325433" y="814387"/>
            <a:ext cx="4560733" cy="22984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6FA71DAA-515F-38CE-9D4C-2A7F0F0DD962}"/>
            </a:ext>
          </a:extLst>
        </p:cNvPr>
        <p:cNvGrpSpPr/>
        <p:nvPr/>
      </p:nvGrpSpPr>
      <p:grpSpPr>
        <a:xfrm>
          <a:off x="0" y="0"/>
          <a:ext cx="0" cy="0"/>
          <a:chOff x="0" y="0"/>
          <a:chExt cx="0" cy="0"/>
        </a:xfrm>
      </p:grpSpPr>
      <p:sp>
        <p:nvSpPr>
          <p:cNvPr id="130" name="Google Shape;130;p26">
            <a:extLst>
              <a:ext uri="{FF2B5EF4-FFF2-40B4-BE49-F238E27FC236}">
                <a16:creationId xmlns:a16="http://schemas.microsoft.com/office/drawing/2014/main" id="{31EF635F-C4B4-5E5E-F2E4-05BCFE9EBFB1}"/>
              </a:ext>
            </a:extLst>
          </p:cNvPr>
          <p:cNvSpPr txBox="1">
            <a:spLocks noGrp="1"/>
          </p:cNvSpPr>
          <p:nvPr>
            <p:ph type="title"/>
          </p:nvPr>
        </p:nvSpPr>
        <p:spPr>
          <a:xfrm>
            <a:off x="425446" y="498792"/>
            <a:ext cx="43014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Academic performance </a:t>
            </a:r>
          </a:p>
        </p:txBody>
      </p:sp>
      <p:sp>
        <p:nvSpPr>
          <p:cNvPr id="131" name="Google Shape;131;p26">
            <a:extLst>
              <a:ext uri="{FF2B5EF4-FFF2-40B4-BE49-F238E27FC236}">
                <a16:creationId xmlns:a16="http://schemas.microsoft.com/office/drawing/2014/main" id="{2747C4CE-1968-8544-D433-F08B4262E77D}"/>
              </a:ext>
            </a:extLst>
          </p:cNvPr>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22</a:t>
            </a:fld>
            <a:endParaRPr lang="en-US"/>
          </a:p>
        </p:txBody>
      </p:sp>
      <p:grpSp>
        <p:nvGrpSpPr>
          <p:cNvPr id="2" name="Google Shape;133;p26">
            <a:extLst>
              <a:ext uri="{FF2B5EF4-FFF2-40B4-BE49-F238E27FC236}">
                <a16:creationId xmlns:a16="http://schemas.microsoft.com/office/drawing/2014/main" id="{7178B79D-5D7A-40F8-CB4C-5A27440F4C51}"/>
              </a:ext>
            </a:extLst>
          </p:cNvPr>
          <p:cNvGrpSpPr/>
          <p:nvPr/>
        </p:nvGrpSpPr>
        <p:grpSpPr>
          <a:xfrm>
            <a:off x="438146" y="814387"/>
            <a:ext cx="1043380" cy="57150"/>
            <a:chOff x="438146" y="814387"/>
            <a:chExt cx="1043380" cy="57150"/>
          </a:xfrm>
        </p:grpSpPr>
        <p:sp>
          <p:nvSpPr>
            <p:cNvPr id="134" name="Google Shape;134;p26">
              <a:extLst>
                <a:ext uri="{FF2B5EF4-FFF2-40B4-BE49-F238E27FC236}">
                  <a16:creationId xmlns:a16="http://schemas.microsoft.com/office/drawing/2014/main" id="{7C3EB6C7-A0DE-76B1-3BB9-10F4786418B5}"/>
                </a:ext>
              </a:extLst>
            </p:cNvPr>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 name="Google Shape;135;p26">
              <a:extLst>
                <a:ext uri="{FF2B5EF4-FFF2-40B4-BE49-F238E27FC236}">
                  <a16:creationId xmlns:a16="http://schemas.microsoft.com/office/drawing/2014/main" id="{E1D374AE-5211-099D-CF3A-3E0DC1639265}"/>
                </a:ext>
              </a:extLst>
            </p:cNvPr>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7" name="Picture 6" descr="Sri Amaraavathi College of Arts &amp; Science">
            <a:extLst>
              <a:ext uri="{FF2B5EF4-FFF2-40B4-BE49-F238E27FC236}">
                <a16:creationId xmlns:a16="http://schemas.microsoft.com/office/drawing/2014/main" id="{2F9A544C-9086-4BBF-03F3-158D5C4267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418" y="66709"/>
            <a:ext cx="1636215" cy="41455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FF1775F-21F5-5109-E7D6-FB79E7AE6DD8}"/>
              </a:ext>
            </a:extLst>
          </p:cNvPr>
          <p:cNvSpPr txBox="1"/>
          <p:nvPr/>
        </p:nvSpPr>
        <p:spPr>
          <a:xfrm>
            <a:off x="233758" y="3339056"/>
            <a:ext cx="8291422" cy="1569660"/>
          </a:xfrm>
          <a:prstGeom prst="rect">
            <a:avLst/>
          </a:prstGeom>
          <a:noFill/>
        </p:spPr>
        <p:txBody>
          <a:bodyPr wrap="square">
            <a:spAutoFit/>
          </a:bodyPr>
          <a:lstStyle/>
          <a:p>
            <a:pPr>
              <a:spcBef>
                <a:spcPts val="2400"/>
              </a:spcBef>
              <a:spcAft>
                <a:spcPts val="1200"/>
              </a:spcAft>
            </a:pPr>
            <a:r>
              <a:rPr lang="en-IN" sz="1200" b="1" dirty="0"/>
              <a:t>Aptitude &amp; Verbal:</a:t>
            </a:r>
            <a:br>
              <a:rPr lang="en-IN" sz="1200" dirty="0"/>
            </a:br>
            <a:r>
              <a:rPr lang="en-IN" sz="1200" dirty="0"/>
              <a:t>In Aptitude &amp; Verbal, based on the assessments conducted in May 2026, out of a total of 24 students, the performance distribution across percentage brackets shows that the majority of students scored in the lower ranges (0–40%). Only a few students managed to score above 60%, indicating a significant need for improvement across the class. Students struggled with logical reasoning, numerical ability, time management, reading comprehension, grammar, and vocabulary. Therefore, most students require focused interventions such as weekly quizzes, remedial sessions, daily practice worksheets, peer-assisted learning, and biweekly mock tests to strengthen their aptitude and verbal reasoning skills in the forthcoming sessions.</a:t>
            </a:r>
            <a:endParaRPr lang="en-US" sz="1200" b="0" i="0" dirty="0">
              <a:solidFill>
                <a:srgbClr val="0F1115"/>
              </a:solidFill>
              <a:effectLst/>
              <a:latin typeface="quote-cjk-patch"/>
            </a:endParaRPr>
          </a:p>
        </p:txBody>
      </p:sp>
      <p:pic>
        <p:nvPicPr>
          <p:cNvPr id="4" name="Picture 3">
            <a:extLst>
              <a:ext uri="{FF2B5EF4-FFF2-40B4-BE49-F238E27FC236}">
                <a16:creationId xmlns:a16="http://schemas.microsoft.com/office/drawing/2014/main" id="{8BEAA17E-A235-31C5-2C6B-CFCF5F7115F7}"/>
              </a:ext>
            </a:extLst>
          </p:cNvPr>
          <p:cNvPicPr>
            <a:picLocks noChangeAspect="1"/>
          </p:cNvPicPr>
          <p:nvPr/>
        </p:nvPicPr>
        <p:blipFill>
          <a:blip r:embed="rId4"/>
          <a:stretch>
            <a:fillRect/>
          </a:stretch>
        </p:blipFill>
        <p:spPr>
          <a:xfrm>
            <a:off x="2208356" y="950256"/>
            <a:ext cx="4453701" cy="2247049"/>
          </a:xfrm>
          <a:prstGeom prst="rect">
            <a:avLst/>
          </a:prstGeom>
        </p:spPr>
      </p:pic>
    </p:spTree>
    <p:extLst>
      <p:ext uri="{BB962C8B-B14F-4D97-AF65-F5344CB8AC3E}">
        <p14:creationId xmlns:p14="http://schemas.microsoft.com/office/powerpoint/2010/main" val="3093174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2"/>
          <p:cNvSpPr txBox="1"/>
          <p:nvPr/>
        </p:nvSpPr>
        <p:spPr>
          <a:xfrm>
            <a:off x="8235898" y="435875"/>
            <a:ext cx="676800" cy="166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000"/>
              <a:buFont typeface="Arial" panose="020B0604020202020204"/>
              <a:buNone/>
            </a:pPr>
            <a:r>
              <a:rPr lang="en-US"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CAMPUS</a:t>
            </a:r>
            <a:endParaRPr sz="10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p:txBody>
      </p:sp>
      <p:sp>
        <p:nvSpPr>
          <p:cNvPr id="87" name="Google Shape;87;p22"/>
          <p:cNvSpPr txBox="1">
            <a:spLocks noGrp="1"/>
          </p:cNvSpPr>
          <p:nvPr>
            <p:ph type="title"/>
          </p:nvPr>
        </p:nvSpPr>
        <p:spPr>
          <a:xfrm>
            <a:off x="884225" y="1653075"/>
            <a:ext cx="7681800" cy="1079783"/>
          </a:xfrm>
          <a:prstGeom prst="rect">
            <a:avLst/>
          </a:prstGeom>
          <a:noFill/>
          <a:ln>
            <a:noFill/>
          </a:ln>
        </p:spPr>
        <p:txBody>
          <a:bodyPr spcFirstLastPara="1" wrap="square" lIns="0" tIns="12700" rIns="0" bIns="0" anchor="t" anchorCtr="0">
            <a:spAutoFit/>
          </a:bodyPr>
          <a:lstStyle/>
          <a:p>
            <a:pPr marL="12065" marR="5080" lvl="0" algn="ctr">
              <a:lnSpc>
                <a:spcPct val="165000"/>
              </a:lnSpc>
              <a:spcBef>
                <a:spcPts val="220"/>
              </a:spcBef>
            </a:pPr>
            <a:r>
              <a:rPr lang="en-US" sz="2000" b="0" dirty="0">
                <a:solidFill>
                  <a:srgbClr val="000000"/>
                </a:solidFill>
                <a:latin typeface="Arial" panose="020B0604020202020204"/>
                <a:ea typeface="Arial" panose="020B0604020202020204"/>
                <a:cs typeface="Arial" panose="020B0604020202020204"/>
                <a:sym typeface="Arial" panose="020B0604020202020204"/>
              </a:rPr>
              <a:t>I Bachelor of Commerce (Fin Tech)</a:t>
            </a:r>
            <a:endParaRPr sz="2000" b="0" dirty="0">
              <a:solidFill>
                <a:srgbClr val="000000"/>
              </a:solidFill>
              <a:latin typeface="Arial" panose="020B0604020202020204"/>
              <a:ea typeface="Arial" panose="020B0604020202020204"/>
              <a:cs typeface="Arial" panose="020B0604020202020204"/>
              <a:sym typeface="Arial" panose="020B0604020202020204"/>
            </a:endParaRPr>
          </a:p>
          <a:p>
            <a:pPr marL="12065" marR="5080" lvl="0" indent="0" algn="ctr" rtl="0">
              <a:lnSpc>
                <a:spcPct val="165000"/>
              </a:lnSpc>
              <a:spcBef>
                <a:spcPts val="220"/>
              </a:spcBef>
              <a:spcAft>
                <a:spcPts val="0"/>
              </a:spcAft>
              <a:buSzPts val="1400"/>
              <a:buNone/>
            </a:pPr>
            <a:r>
              <a:rPr lang="en-US" sz="2000" b="0" dirty="0">
                <a:solidFill>
                  <a:srgbClr val="000000"/>
                </a:solidFill>
                <a:latin typeface="Arial" panose="020B0604020202020204"/>
                <a:ea typeface="Arial" panose="020B0604020202020204"/>
                <a:cs typeface="Arial" panose="020B0604020202020204"/>
                <a:sym typeface="Arial" panose="020B0604020202020204"/>
              </a:rPr>
              <a:t>2025 - 2028</a:t>
            </a:r>
            <a:endParaRPr sz="2000" dirty="0">
              <a:latin typeface="Arial" panose="020B0604020202020204"/>
              <a:ea typeface="Arial" panose="020B0604020202020204"/>
              <a:cs typeface="Arial" panose="020B0604020202020204"/>
              <a:sym typeface="Arial" panose="020B0604020202020204"/>
            </a:endParaRPr>
          </a:p>
        </p:txBody>
      </p:sp>
      <p:sp>
        <p:nvSpPr>
          <p:cNvPr id="88" name="Google Shape;88;p22"/>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23</a:t>
            </a:fld>
            <a:endParaRPr lang="en-US"/>
          </a:p>
        </p:txBody>
      </p:sp>
      <p:pic>
        <p:nvPicPr>
          <p:cNvPr id="2" name="Picture 1" descr="Sri Amaraavathi College of Arts &amp; Science">
            <a:extLst>
              <a:ext uri="{FF2B5EF4-FFF2-40B4-BE49-F238E27FC236}">
                <a16:creationId xmlns:a16="http://schemas.microsoft.com/office/drawing/2014/main" id="{7193A01A-0724-C5F1-029A-2F27BA8A7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779" y="83285"/>
            <a:ext cx="2783278" cy="7051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a:spLocks noGrp="1"/>
          </p:cNvSpPr>
          <p:nvPr>
            <p:ph type="title"/>
          </p:nvPr>
        </p:nvSpPr>
        <p:spPr>
          <a:xfrm>
            <a:off x="425446" y="498792"/>
            <a:ext cx="3093097" cy="2590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dirty="0"/>
              <a:t>Overall Attendance:</a:t>
            </a:r>
            <a:endParaRPr dirty="0"/>
          </a:p>
        </p:txBody>
      </p:sp>
      <p:sp>
        <p:nvSpPr>
          <p:cNvPr id="96" name="Google Shape;96;p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24</a:t>
            </a:fld>
            <a:endParaRPr lang="en-US"/>
          </a:p>
        </p:txBody>
      </p:sp>
      <p:grpSp>
        <p:nvGrpSpPr>
          <p:cNvPr id="2" name="Google Shape;97;p3"/>
          <p:cNvGrpSpPr/>
          <p:nvPr/>
        </p:nvGrpSpPr>
        <p:grpSpPr>
          <a:xfrm>
            <a:off x="438146" y="814387"/>
            <a:ext cx="1043380" cy="57150"/>
            <a:chOff x="438146" y="814387"/>
            <a:chExt cx="1043380" cy="57150"/>
          </a:xfrm>
        </p:grpSpPr>
        <p:sp>
          <p:nvSpPr>
            <p:cNvPr id="98" name="Google Shape;98;p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 name="Rectangle 9"/>
          <p:cNvSpPr/>
          <p:nvPr/>
        </p:nvSpPr>
        <p:spPr>
          <a:xfrm>
            <a:off x="135467" y="3423474"/>
            <a:ext cx="8890000" cy="1569660"/>
          </a:xfrm>
          <a:prstGeom prst="rect">
            <a:avLst/>
          </a:prstGeom>
        </p:spPr>
        <p:txBody>
          <a:bodyPr wrap="square">
            <a:spAutoFit/>
          </a:bodyPr>
          <a:lstStyle/>
          <a:p>
            <a:pPr marL="171450" indent="-171450">
              <a:buFont typeface="Wingdings" panose="05000000000000000000" pitchFamily="2" charset="2"/>
              <a:buChar char="ü"/>
            </a:pPr>
            <a:r>
              <a:rPr lang="en-IN" sz="1200" dirty="0"/>
              <a:t>Based on the attendance records, out of a total of 17 students, 1 student has maintained attendance in the Excellent category (90-100%) and 3 students in the Good category (80-89%), which is commendable. However, the remaining students have recorded attendance below 75% in the Poor category and will require focused monitoring, additional guidance, and appropriate corrective measures to improve their attendance and overall academic participation.</a:t>
            </a:r>
          </a:p>
          <a:p>
            <a:pPr marL="171450" indent="-171450">
              <a:buFont typeface="Wingdings" panose="05000000000000000000" pitchFamily="2" charset="2"/>
              <a:buChar char="ü"/>
            </a:pPr>
            <a:r>
              <a:rPr lang="en-IN" sz="1200" b="1" dirty="0"/>
              <a:t>Average: </a:t>
            </a:r>
            <a:r>
              <a:rPr lang="en-IN" sz="1200" dirty="0"/>
              <a:t>The class recorded an attendance distribution showing 1 student in Excellent (5.88%), 3 students in Good (17.65%), and the remaining students in the Poor category. Continued commitment to regular attendance and targeted interventions for students in the Poor category will help improve overall engagement.</a:t>
            </a:r>
          </a:p>
          <a:p>
            <a:pPr marL="171450" indent="-171450" algn="just">
              <a:buFont typeface="Wingdings" panose="05000000000000000000" pitchFamily="2" charset="2"/>
              <a:buChar char="ü"/>
            </a:pPr>
            <a:endParaRPr lang="en-US" altLang="en-GB" sz="1200" dirty="0">
              <a:latin typeface="+mj-lt"/>
            </a:endParaRPr>
          </a:p>
        </p:txBody>
      </p:sp>
      <p:pic>
        <p:nvPicPr>
          <p:cNvPr id="4" name="Picture 3" descr="Sri Amaraavathi College of Arts &amp; Science">
            <a:extLst>
              <a:ext uri="{FF2B5EF4-FFF2-40B4-BE49-F238E27FC236}">
                <a16:creationId xmlns:a16="http://schemas.microsoft.com/office/drawing/2014/main" id="{EF204C31-50F6-F99C-965C-3310969D2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17" y="75216"/>
            <a:ext cx="1671818" cy="4235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4F893D1-B2C2-E937-935A-B10C51A643D4}"/>
              </a:ext>
            </a:extLst>
          </p:cNvPr>
          <p:cNvPicPr>
            <a:picLocks noChangeAspect="1"/>
          </p:cNvPicPr>
          <p:nvPr/>
        </p:nvPicPr>
        <p:blipFill>
          <a:blip r:embed="rId4"/>
          <a:stretch>
            <a:fillRect/>
          </a:stretch>
        </p:blipFill>
        <p:spPr>
          <a:xfrm>
            <a:off x="1971994" y="812064"/>
            <a:ext cx="5068198" cy="249105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3"/>
          <p:cNvSpPr txBox="1">
            <a:spLocks noGrp="1"/>
          </p:cNvSpPr>
          <p:nvPr>
            <p:ph type="title"/>
          </p:nvPr>
        </p:nvSpPr>
        <p:spPr>
          <a:xfrm>
            <a:off x="425446" y="498792"/>
            <a:ext cx="3093097" cy="2590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dirty="0"/>
              <a:t>Technical Evaluation</a:t>
            </a:r>
          </a:p>
        </p:txBody>
      </p:sp>
      <p:sp>
        <p:nvSpPr>
          <p:cNvPr id="422" name="Google Shape;422;p53"/>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25</a:t>
            </a:fld>
            <a:endParaRPr lang="en-US"/>
          </a:p>
        </p:txBody>
      </p:sp>
      <p:grpSp>
        <p:nvGrpSpPr>
          <p:cNvPr id="424" name="Google Shape;424;p53"/>
          <p:cNvGrpSpPr/>
          <p:nvPr/>
        </p:nvGrpSpPr>
        <p:grpSpPr>
          <a:xfrm>
            <a:off x="438146" y="814387"/>
            <a:ext cx="1043380" cy="57150"/>
            <a:chOff x="438146" y="814387"/>
            <a:chExt cx="1043380" cy="57150"/>
          </a:xfrm>
        </p:grpSpPr>
        <p:sp>
          <p:nvSpPr>
            <p:cNvPr id="425" name="Google Shape;425;p53"/>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6" name="Google Shape;426;p53"/>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5" name="Picture 4" descr="Sri Amaraavathi College of Arts &amp; Science">
            <a:extLst>
              <a:ext uri="{FF2B5EF4-FFF2-40B4-BE49-F238E27FC236}">
                <a16:creationId xmlns:a16="http://schemas.microsoft.com/office/drawing/2014/main" id="{183827D4-BB1E-7F87-6B81-8AE6E4414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926" y="25316"/>
            <a:ext cx="1868766" cy="47347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D29800C-EB3C-2793-7436-FAEB68F23D6B}"/>
              </a:ext>
            </a:extLst>
          </p:cNvPr>
          <p:cNvSpPr txBox="1"/>
          <p:nvPr/>
        </p:nvSpPr>
        <p:spPr>
          <a:xfrm>
            <a:off x="182880" y="3254738"/>
            <a:ext cx="8588326" cy="1538883"/>
          </a:xfrm>
          <a:prstGeom prst="rect">
            <a:avLst/>
          </a:prstGeom>
          <a:noFill/>
        </p:spPr>
        <p:txBody>
          <a:bodyPr wrap="square">
            <a:spAutoFit/>
          </a:bodyPr>
          <a:lstStyle/>
          <a:p>
            <a:pPr marL="285750" indent="-285750">
              <a:buFont typeface="Wingdings" panose="05000000000000000000" pitchFamily="2" charset="2"/>
              <a:buChar char="ü"/>
            </a:pPr>
            <a:r>
              <a:rPr lang="en-IN" dirty="0"/>
              <a:t>Students were assigned SEBI Case Study, SEBI Certification, Tally Vouchers &amp; EDA to enhance their practical and industry-relevant skills. A total of 17 students participated in the assessments.</a:t>
            </a:r>
          </a:p>
          <a:p>
            <a:pPr marL="285750" indent="-285750">
              <a:buFont typeface="Wingdings" panose="05000000000000000000" pitchFamily="2" charset="2"/>
              <a:buChar char="ü"/>
            </a:pPr>
            <a:r>
              <a:rPr lang="en-IN" b="1" dirty="0"/>
              <a:t>Performance Distribution: </a:t>
            </a:r>
            <a:r>
              <a:rPr lang="en-IN" dirty="0"/>
              <a:t>Based on the assessment scores distributed across percentage brackets ranging from 20% to 70%, the class achieved an average score of 64.67%. The distribution shows that students are spread across various performance levels.</a:t>
            </a:r>
          </a:p>
          <a:p>
            <a:pPr marL="285750" indent="-285750" algn="just">
              <a:spcBef>
                <a:spcPts val="1200"/>
              </a:spcBef>
              <a:spcAft>
                <a:spcPts val="1200"/>
              </a:spcAft>
              <a:buFont typeface="Wingdings" panose="05000000000000000000" pitchFamily="2" charset="2"/>
              <a:buChar char="ü"/>
            </a:pPr>
            <a:endParaRPr lang="en-US" b="0" i="0" dirty="0">
              <a:solidFill>
                <a:srgbClr val="0F1115"/>
              </a:solidFill>
              <a:effectLst/>
              <a:latin typeface="quote-cjk-patch"/>
            </a:endParaRPr>
          </a:p>
        </p:txBody>
      </p:sp>
      <p:pic>
        <p:nvPicPr>
          <p:cNvPr id="3" name="Picture 2">
            <a:extLst>
              <a:ext uri="{FF2B5EF4-FFF2-40B4-BE49-F238E27FC236}">
                <a16:creationId xmlns:a16="http://schemas.microsoft.com/office/drawing/2014/main" id="{B4FB3FEF-C5B9-601D-B576-0310CF606975}"/>
              </a:ext>
            </a:extLst>
          </p:cNvPr>
          <p:cNvPicPr>
            <a:picLocks noChangeAspect="1"/>
          </p:cNvPicPr>
          <p:nvPr/>
        </p:nvPicPr>
        <p:blipFill>
          <a:blip r:embed="rId4"/>
          <a:stretch>
            <a:fillRect/>
          </a:stretch>
        </p:blipFill>
        <p:spPr>
          <a:xfrm>
            <a:off x="1718851" y="871537"/>
            <a:ext cx="5516384" cy="233554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g37dcba7478a_0_1"/>
          <p:cNvSpPr txBox="1">
            <a:spLocks noGrp="1"/>
          </p:cNvSpPr>
          <p:nvPr>
            <p:ph type="title"/>
          </p:nvPr>
        </p:nvSpPr>
        <p:spPr>
          <a:xfrm>
            <a:off x="425446" y="498792"/>
            <a:ext cx="30930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Technical Evaluation</a:t>
            </a:r>
          </a:p>
        </p:txBody>
      </p:sp>
      <p:sp>
        <p:nvSpPr>
          <p:cNvPr id="433" name="Google Shape;433;g37dcba7478a_0_1"/>
          <p:cNvSpPr txBox="1"/>
          <p:nvPr/>
        </p:nvSpPr>
        <p:spPr>
          <a:xfrm>
            <a:off x="447600" y="1112427"/>
            <a:ext cx="8248800" cy="2225738"/>
          </a:xfrm>
          <a:prstGeom prst="rect">
            <a:avLst/>
          </a:prstGeom>
          <a:noFill/>
          <a:ln>
            <a:noFill/>
          </a:ln>
        </p:spPr>
        <p:txBody>
          <a:bodyPr spcFirstLastPara="1" wrap="square" lIns="0" tIns="12700" rIns="0" bIns="0" anchor="t" anchorCtr="0">
            <a:spAutoFit/>
          </a:bodyPr>
          <a:lstStyle/>
          <a:p>
            <a:pPr marL="285750" indent="-285750">
              <a:buFont typeface="Wingdings" panose="05000000000000000000" pitchFamily="2" charset="2"/>
              <a:buChar char="Ø"/>
            </a:pPr>
            <a:r>
              <a:rPr lang="en-IN" sz="1200" b="1" dirty="0"/>
              <a:t>Class Performance: </a:t>
            </a:r>
            <a:r>
              <a:rPr lang="en-IN" sz="1200" dirty="0"/>
              <a:t>Out of a total of 17 students, the majority secured scores above 60%, reflecting their proficiency and consistent effort. However, some students scored below 60% and will require focused attention, additional support, and targeted interventions. These students show potential and can perform well with additional guidance and support to strengthen their practical knowledge and improve their performance in the forthcoming sessions.</a:t>
            </a:r>
          </a:p>
          <a:p>
            <a:pPr marL="285750" indent="-285750">
              <a:buFont typeface="Wingdings" panose="05000000000000000000" pitchFamily="2" charset="2"/>
              <a:buChar char="Ø"/>
            </a:pPr>
            <a:endParaRPr lang="en-IN" sz="1200" dirty="0"/>
          </a:p>
          <a:p>
            <a:pPr marL="285750" indent="-285750">
              <a:buFont typeface="Wingdings" panose="05000000000000000000" pitchFamily="2" charset="2"/>
              <a:buChar char="Ø"/>
            </a:pPr>
            <a:r>
              <a:rPr lang="en-IN" sz="1200" b="1" dirty="0"/>
              <a:t>Evaluation: </a:t>
            </a:r>
            <a:r>
              <a:rPr lang="en-IN" sz="1200" dirty="0"/>
              <a:t>Each student's performance was assessed based on the presentation and financial report evaluation. Scores were then converted into percentages to ensure accurate and detailed progress tracking.</a:t>
            </a:r>
          </a:p>
          <a:p>
            <a:pPr marL="285750" indent="-285750">
              <a:buFont typeface="Wingdings" panose="05000000000000000000" pitchFamily="2" charset="2"/>
              <a:buChar char="Ø"/>
            </a:pPr>
            <a:endParaRPr lang="en-IN" sz="1200" dirty="0"/>
          </a:p>
          <a:p>
            <a:pPr marL="285750" indent="-285750">
              <a:buFont typeface="Wingdings" panose="05000000000000000000" pitchFamily="2" charset="2"/>
              <a:buChar char="Ø"/>
            </a:pPr>
            <a:r>
              <a:rPr lang="en-IN" sz="1200" b="1" dirty="0"/>
              <a:t>Class Average: The class achieved an average score of 64.67%, </a:t>
            </a:r>
            <a:r>
              <a:rPr lang="en-IN" sz="1200" dirty="0"/>
              <a:t>reflecting a developing level of performance with opportunities for further growth.</a:t>
            </a:r>
          </a:p>
          <a:p>
            <a:pPr marL="184150" marR="215265" lvl="0" indent="-171450" algn="just" rtl="0">
              <a:lnSpc>
                <a:spcPct val="115000"/>
              </a:lnSpc>
              <a:spcBef>
                <a:spcPts val="1200"/>
              </a:spcBef>
              <a:spcAft>
                <a:spcPts val="0"/>
              </a:spcAft>
              <a:buClr>
                <a:schemeClr val="dk1"/>
              </a:buClr>
              <a:buSzPts val="1100"/>
              <a:buFont typeface="Wingdings" panose="05000000000000000000" pitchFamily="2" charset="2"/>
              <a:buChar char="Ø"/>
            </a:pPr>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34" name="Google Shape;434;g37dcba7478a_0_1"/>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26</a:t>
            </a:fld>
            <a:endParaRPr lang="en-US"/>
          </a:p>
        </p:txBody>
      </p:sp>
      <p:grpSp>
        <p:nvGrpSpPr>
          <p:cNvPr id="436" name="Google Shape;436;g37dcba7478a_0_1"/>
          <p:cNvGrpSpPr/>
          <p:nvPr/>
        </p:nvGrpSpPr>
        <p:grpSpPr>
          <a:xfrm>
            <a:off x="438146" y="814387"/>
            <a:ext cx="1043380" cy="57150"/>
            <a:chOff x="438146" y="814387"/>
            <a:chExt cx="1043380" cy="57150"/>
          </a:xfrm>
        </p:grpSpPr>
        <p:sp>
          <p:nvSpPr>
            <p:cNvPr id="437" name="Google Shape;437;g37dcba7478a_0_1"/>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8" name="Google Shape;438;g37dcba7478a_0_1"/>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2" name="Picture 1" descr="WhatsApp Image 2026-03-24 at 10.58.30 AM"/>
          <p:cNvPicPr>
            <a:picLocks noChangeAspect="1"/>
          </p:cNvPicPr>
          <p:nvPr/>
        </p:nvPicPr>
        <p:blipFill>
          <a:blip r:embed="rId3"/>
          <a:srcRect r="59109"/>
          <a:stretch>
            <a:fillRect/>
          </a:stretch>
        </p:blipFill>
        <p:spPr>
          <a:xfrm>
            <a:off x="4705523" y="3255971"/>
            <a:ext cx="1730375" cy="1604837"/>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5" name="Picture 4" descr="WhatsApp Image 2026-03-24 at 10.48.08 AM"/>
          <p:cNvPicPr>
            <a:picLocks noChangeAspect="1"/>
          </p:cNvPicPr>
          <p:nvPr/>
        </p:nvPicPr>
        <p:blipFill>
          <a:blip r:embed="rId4"/>
          <a:srcRect l="17134" r="19572"/>
          <a:stretch>
            <a:fillRect/>
          </a:stretch>
        </p:blipFill>
        <p:spPr>
          <a:xfrm>
            <a:off x="2080503" y="3261243"/>
            <a:ext cx="1799590" cy="1599565"/>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7" name="Picture 6" descr="Sri Amaraavathi College of Arts &amp; Science">
            <a:extLst>
              <a:ext uri="{FF2B5EF4-FFF2-40B4-BE49-F238E27FC236}">
                <a16:creationId xmlns:a16="http://schemas.microsoft.com/office/drawing/2014/main" id="{673E1B42-09D4-8C8F-785E-E12C2C8FE0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875" y="57395"/>
            <a:ext cx="1742156" cy="4413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4"/>
          <p:cNvSpPr txBox="1">
            <a:spLocks noGrp="1"/>
          </p:cNvSpPr>
          <p:nvPr>
            <p:ph type="title"/>
          </p:nvPr>
        </p:nvSpPr>
        <p:spPr>
          <a:xfrm>
            <a:off x="425446" y="498792"/>
            <a:ext cx="43014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Overall Communication Level </a:t>
            </a:r>
          </a:p>
        </p:txBody>
      </p:sp>
      <p:sp>
        <p:nvSpPr>
          <p:cNvPr id="444" name="Google Shape;444;p54"/>
          <p:cNvSpPr txBox="1"/>
          <p:nvPr/>
        </p:nvSpPr>
        <p:spPr>
          <a:xfrm>
            <a:off x="481400" y="3198466"/>
            <a:ext cx="8248800" cy="1561710"/>
          </a:xfrm>
          <a:prstGeom prst="rect">
            <a:avLst/>
          </a:prstGeom>
          <a:noFill/>
          <a:ln>
            <a:noFill/>
          </a:ln>
        </p:spPr>
        <p:txBody>
          <a:bodyPr spcFirstLastPara="1" wrap="square" lIns="0" tIns="12700" rIns="0" bIns="0" anchor="t" anchorCtr="0">
            <a:spAutoFit/>
          </a:bodyPr>
          <a:lstStyle/>
          <a:p>
            <a:pPr marL="171450" indent="-171450">
              <a:buFont typeface="Wingdings" panose="05000000000000000000" pitchFamily="2" charset="2"/>
              <a:buChar char="Ø"/>
            </a:pPr>
            <a:r>
              <a:rPr lang="en-IN" sz="1100" dirty="0"/>
              <a:t>Students underwent focused training in communication skills, emphasizing clarity, confidence, and effectiveness in expression. Various activities and tasks were conducted to strengthen their Writing, Listening, Speaking, Reading, and Presentation abilities.</a:t>
            </a:r>
          </a:p>
          <a:p>
            <a:pPr marL="171450" indent="-171450">
              <a:buFont typeface="Wingdings" panose="05000000000000000000" pitchFamily="2" charset="2"/>
              <a:buChar char="Ø"/>
            </a:pPr>
            <a:r>
              <a:rPr lang="en-IN" sz="1100" dirty="0"/>
              <a:t>In the Communication Skills assessment based on CEFR levels, out of 17 students, </a:t>
            </a:r>
            <a:r>
              <a:rPr lang="en-IN" sz="1100" b="1" dirty="0"/>
              <a:t>1 student was absent (A), 5 students are at A1 level, 10 students are at A2 level, and 1 student has achieved B2 level</a:t>
            </a:r>
            <a:r>
              <a:rPr lang="en-IN" sz="1100" dirty="0"/>
              <a:t>. The majority of students (15 out of 17) are currently at foundational stages (A1 and A2), with only one student reaching B2 level. An action plan will be implemented to provide focused interventions to improve communication proficiency in the forthcoming sessions.</a:t>
            </a:r>
          </a:p>
          <a:p>
            <a:pPr marL="171450" indent="-171450">
              <a:buFont typeface="Wingdings" panose="05000000000000000000" pitchFamily="2" charset="2"/>
              <a:buChar char="Ø"/>
            </a:pPr>
            <a:r>
              <a:rPr lang="en-IN" sz="1100" b="1" dirty="0"/>
              <a:t>Class Average: </a:t>
            </a:r>
            <a:r>
              <a:rPr lang="en-IN" sz="1100" dirty="0"/>
              <a:t>The class recorded a majority of students at foundational levels (A1 and A2), indicating the need for consistent practice, targeted support, and focused effort to strengthen key communication skills and progress to higher proficiency levels.</a:t>
            </a:r>
          </a:p>
          <a:p>
            <a:pPr marL="171450" marR="123190" lvl="0" indent="-171450" algn="just" rtl="0">
              <a:lnSpc>
                <a:spcPct val="115000"/>
              </a:lnSpc>
              <a:spcBef>
                <a:spcPts val="0"/>
              </a:spcBef>
              <a:spcAft>
                <a:spcPts val="0"/>
              </a:spcAft>
              <a:buClr>
                <a:srgbClr val="000000"/>
              </a:buClr>
              <a:buSzPts val="1100"/>
              <a:buFont typeface="Wingdings" panose="05000000000000000000" pitchFamily="2" charset="2"/>
              <a:buChar char="Ø"/>
            </a:pPr>
            <a:endParaRPr sz="11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45" name="Google Shape;445;p54"/>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27</a:t>
            </a:fld>
            <a:endParaRPr lang="en-US"/>
          </a:p>
        </p:txBody>
      </p:sp>
      <p:grpSp>
        <p:nvGrpSpPr>
          <p:cNvPr id="447" name="Google Shape;447;p54"/>
          <p:cNvGrpSpPr/>
          <p:nvPr/>
        </p:nvGrpSpPr>
        <p:grpSpPr>
          <a:xfrm>
            <a:off x="438146" y="814387"/>
            <a:ext cx="1043380" cy="57150"/>
            <a:chOff x="438146" y="814387"/>
            <a:chExt cx="1043380" cy="57150"/>
          </a:xfrm>
        </p:grpSpPr>
        <p:sp>
          <p:nvSpPr>
            <p:cNvPr id="448" name="Google Shape;448;p54"/>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9" name="Google Shape;449;p54"/>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4" name="Picture 3" descr="Sri Amaraavathi College of Arts &amp; Science">
            <a:extLst>
              <a:ext uri="{FF2B5EF4-FFF2-40B4-BE49-F238E27FC236}">
                <a16:creationId xmlns:a16="http://schemas.microsoft.com/office/drawing/2014/main" id="{D95CFD59-9622-47E3-C254-E409E7AC20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75" y="59493"/>
            <a:ext cx="1622581" cy="4111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DA95D31-0F16-8DAB-D21E-36FBA2434F51}"/>
              </a:ext>
            </a:extLst>
          </p:cNvPr>
          <p:cNvPicPr>
            <a:picLocks noChangeAspect="1"/>
          </p:cNvPicPr>
          <p:nvPr/>
        </p:nvPicPr>
        <p:blipFill>
          <a:blip r:embed="rId4"/>
          <a:stretch>
            <a:fillRect/>
          </a:stretch>
        </p:blipFill>
        <p:spPr>
          <a:xfrm>
            <a:off x="2605799" y="842962"/>
            <a:ext cx="4242094" cy="222204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7"/>
          <p:cNvSpPr txBox="1">
            <a:spLocks noGrp="1"/>
          </p:cNvSpPr>
          <p:nvPr>
            <p:ph type="sldNum" idx="12"/>
          </p:nvPr>
        </p:nvSpPr>
        <p:spPr>
          <a:xfrm>
            <a:off x="8874272" y="4831911"/>
            <a:ext cx="273050" cy="286385"/>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28</a:t>
            </a:fld>
            <a:endParaRPr lang="en-US"/>
          </a:p>
        </p:txBody>
      </p:sp>
      <p:grpSp>
        <p:nvGrpSpPr>
          <p:cNvPr id="457" name="Google Shape;457;p57"/>
          <p:cNvGrpSpPr/>
          <p:nvPr/>
        </p:nvGrpSpPr>
        <p:grpSpPr>
          <a:xfrm>
            <a:off x="438146" y="814387"/>
            <a:ext cx="1043380" cy="57150"/>
            <a:chOff x="438146" y="814387"/>
            <a:chExt cx="1043380" cy="57150"/>
          </a:xfrm>
        </p:grpSpPr>
        <p:sp>
          <p:nvSpPr>
            <p:cNvPr id="458" name="Google Shape;458;p57"/>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9" name="Google Shape;459;p57"/>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64" name="Google Shape;464;p57"/>
          <p:cNvSpPr txBox="1">
            <a:spLocks noGrp="1"/>
          </p:cNvSpPr>
          <p:nvPr>
            <p:ph type="title"/>
          </p:nvPr>
        </p:nvSpPr>
        <p:spPr>
          <a:xfrm>
            <a:off x="425446" y="498792"/>
            <a:ext cx="43014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1600"/>
              <a:t>Academic performance </a:t>
            </a:r>
          </a:p>
        </p:txBody>
      </p:sp>
      <p:sp>
        <p:nvSpPr>
          <p:cNvPr id="11" name="Google Shape;461;p57"/>
          <p:cNvSpPr txBox="1"/>
          <p:nvPr/>
        </p:nvSpPr>
        <p:spPr>
          <a:xfrm>
            <a:off x="240632" y="3639661"/>
            <a:ext cx="8353353" cy="1197764"/>
          </a:xfrm>
          <a:prstGeom prst="rect">
            <a:avLst/>
          </a:prstGeom>
          <a:noFill/>
          <a:ln>
            <a:noFill/>
          </a:ln>
        </p:spPr>
        <p:txBody>
          <a:bodyPr spcFirstLastPara="1" wrap="square" lIns="0" tIns="12700" rIns="0" bIns="0" anchor="t" anchorCtr="0">
            <a:spAutoFit/>
          </a:bodyPr>
          <a:lstStyle/>
          <a:p>
            <a:pPr marL="12700" lvl="0">
              <a:buSzPts val="1000"/>
            </a:pPr>
            <a:r>
              <a:rPr lang="en-IN" sz="1100" b="1" dirty="0"/>
              <a:t>Aptitude &amp; Verbal:</a:t>
            </a:r>
            <a:br>
              <a:rPr lang="en-IN" sz="1100" dirty="0"/>
            </a:br>
            <a:r>
              <a:rPr lang="en-IN" sz="1100" dirty="0"/>
              <a:t>In Aptitude &amp; Verbal, based on the assessments conducted in May 2026, out of a total of 17 students, the performance distribution across percentage brackets shows that the majority of students scored in the lower ranges (0–40%). Only a few students managed to score above 60%, indicating a significant need for improvement across the class. Students struggled with logical reasoning, numerical ability, time management, reading comprehension, grammar, and vocabulary. Therefore, most students require focused interventions such as weekly quizzes, remedial sessions, daily practice worksheets, peer-assisted learning, and biweekly mock tests to strengthen their aptitude and verbal reasoning skills in the forthcoming sessions</a:t>
            </a:r>
            <a:endParaRPr sz="11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4" name="Picture 3" descr="Sri Amaraavathi College of Arts &amp; Science">
            <a:extLst>
              <a:ext uri="{FF2B5EF4-FFF2-40B4-BE49-F238E27FC236}">
                <a16:creationId xmlns:a16="http://schemas.microsoft.com/office/drawing/2014/main" id="{38CC420F-FDDD-FD99-700F-80E233DD1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75" y="76998"/>
            <a:ext cx="1664784" cy="42179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A66D38F-60F3-6612-D7AE-B1D064E6605F}"/>
              </a:ext>
            </a:extLst>
          </p:cNvPr>
          <p:cNvPicPr>
            <a:picLocks noChangeAspect="1"/>
          </p:cNvPicPr>
          <p:nvPr/>
        </p:nvPicPr>
        <p:blipFill>
          <a:blip r:embed="rId4"/>
          <a:stretch>
            <a:fillRect/>
          </a:stretch>
        </p:blipFill>
        <p:spPr>
          <a:xfrm>
            <a:off x="2060037" y="792798"/>
            <a:ext cx="5234270" cy="269140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g388aa59c50f_0_31"/>
          <p:cNvSpPr txBox="1">
            <a:spLocks noGrp="1"/>
          </p:cNvSpPr>
          <p:nvPr>
            <p:ph type="title"/>
          </p:nvPr>
        </p:nvSpPr>
        <p:spPr>
          <a:xfrm>
            <a:off x="425446" y="520604"/>
            <a:ext cx="2054664" cy="443230"/>
          </a:xfrm>
          <a:prstGeom prst="rect">
            <a:avLst/>
          </a:prstGeom>
          <a:noFill/>
          <a:ln>
            <a:noFill/>
          </a:ln>
        </p:spPr>
        <p:txBody>
          <a:bodyPr spcFirstLastPara="1" wrap="square" lIns="0" tIns="12700" rIns="0" bIns="0" anchor="t" anchorCtr="0">
            <a:spAutoFit/>
          </a:bodyPr>
          <a:lstStyle/>
          <a:p>
            <a:pPr marL="12700" lvl="0"/>
            <a:r>
              <a:rPr lang="en-GB" sz="1400" dirty="0"/>
              <a:t>May Month</a:t>
            </a:r>
            <a:r>
              <a:rPr lang="en-US" sz="1400" dirty="0"/>
              <a:t> Highlights:</a:t>
            </a:r>
            <a:br>
              <a:rPr lang="en-US" sz="1400" dirty="0">
                <a:solidFill>
                  <a:schemeClr val="dk1"/>
                </a:solidFill>
              </a:rPr>
            </a:br>
            <a:endParaRPr lang="en-US" sz="1400" dirty="0">
              <a:solidFill>
                <a:schemeClr val="dk1"/>
              </a:solidFill>
            </a:endParaRPr>
          </a:p>
        </p:txBody>
      </p:sp>
      <p:sp>
        <p:nvSpPr>
          <p:cNvPr id="581" name="Google Shape;581;g388aa59c50f_0_31"/>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29</a:t>
            </a:fld>
            <a:endParaRPr lang="en-US"/>
          </a:p>
        </p:txBody>
      </p:sp>
      <p:grpSp>
        <p:nvGrpSpPr>
          <p:cNvPr id="583" name="Google Shape;583;g388aa59c50f_0_31"/>
          <p:cNvGrpSpPr/>
          <p:nvPr/>
        </p:nvGrpSpPr>
        <p:grpSpPr>
          <a:xfrm>
            <a:off x="425293" y="814386"/>
            <a:ext cx="1813218" cy="58449"/>
            <a:chOff x="438146" y="814387"/>
            <a:chExt cx="1043380" cy="57150"/>
          </a:xfrm>
        </p:grpSpPr>
        <p:sp>
          <p:nvSpPr>
            <p:cNvPr id="584" name="Google Shape;584;g388aa59c50f_0_31"/>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5" name="Google Shape;585;g388aa59c50f_0_31"/>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3" name="Picture 2" descr="Sri Amaraavathi College of Arts &amp; Science">
            <a:extLst>
              <a:ext uri="{FF2B5EF4-FFF2-40B4-BE49-F238E27FC236}">
                <a16:creationId xmlns:a16="http://schemas.microsoft.com/office/drawing/2014/main" id="{F58EA6DC-87FD-389D-44EC-1F79E1318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806" y="78663"/>
            <a:ext cx="1664784" cy="4217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91B24D-A688-ECBD-FFCA-BD219115DF7C}"/>
              </a:ext>
            </a:extLst>
          </p:cNvPr>
          <p:cNvSpPr txBox="1"/>
          <p:nvPr/>
        </p:nvSpPr>
        <p:spPr>
          <a:xfrm>
            <a:off x="340191" y="963834"/>
            <a:ext cx="8670581" cy="3139321"/>
          </a:xfrm>
          <a:prstGeom prst="rect">
            <a:avLst/>
          </a:prstGeom>
          <a:noFill/>
        </p:spPr>
        <p:txBody>
          <a:bodyPr wrap="square">
            <a:spAutoFit/>
          </a:bodyPr>
          <a:lstStyle/>
          <a:p>
            <a:pPr>
              <a:buNone/>
            </a:pPr>
            <a:r>
              <a:rPr lang="en-IN" sz="1100" b="1" dirty="0"/>
              <a:t>1. Build-to-Learn Summer Internship Program 2026 – Strong Progress</a:t>
            </a:r>
          </a:p>
          <a:p>
            <a:pPr>
              <a:buNone/>
            </a:pPr>
            <a:r>
              <a:rPr lang="en-IN" sz="1100" dirty="0"/>
              <a:t>The Build-to-Learn Summer Internship Program 2026 continues to gain momentum across Computer Science, AIML, BBA, and B. Com streams.</a:t>
            </a:r>
          </a:p>
          <a:p>
            <a:pPr>
              <a:buFont typeface="Arial" panose="020B0604020202020204" pitchFamily="34" charset="0"/>
              <a:buChar char="•"/>
            </a:pPr>
            <a:r>
              <a:rPr lang="en-IN" sz="1100" dirty="0"/>
              <a:t>Out of the </a:t>
            </a:r>
            <a:r>
              <a:rPr lang="en-IN" sz="1100" b="1" dirty="0"/>
              <a:t>75+ students registered</a:t>
            </a:r>
            <a:r>
              <a:rPr lang="en-IN" sz="1100" dirty="0"/>
              <a:t>, </a:t>
            </a:r>
            <a:r>
              <a:rPr lang="en-IN" sz="1100" b="1" dirty="0"/>
              <a:t>34 students have successfully completed their projects</a:t>
            </a:r>
            <a:r>
              <a:rPr lang="en-IN" sz="1100" dirty="0"/>
              <a:t> and submitted their final deliverables. </a:t>
            </a:r>
          </a:p>
          <a:p>
            <a:pPr>
              <a:buFont typeface="Arial" panose="020B0604020202020204" pitchFamily="34" charset="0"/>
              <a:buChar char="•"/>
            </a:pPr>
            <a:r>
              <a:rPr lang="en-IN" sz="1100" dirty="0"/>
              <a:t>The remaining students are actively working on their projects and are progressing through the development and refinement stages. </a:t>
            </a:r>
          </a:p>
          <a:p>
            <a:pPr>
              <a:buFont typeface="Arial" panose="020B0604020202020204" pitchFamily="34" charset="0"/>
              <a:buChar char="•"/>
            </a:pPr>
            <a:r>
              <a:rPr lang="en-IN" sz="1100" dirty="0"/>
              <a:t>Students are building real-world solutions for local businesses, including inventory management systems, customer feedback platforms, expense tracking tools, and sales prediction models. </a:t>
            </a:r>
          </a:p>
          <a:p>
            <a:r>
              <a:rPr lang="en-IN" sz="1100" dirty="0"/>
              <a:t>Regular mentor interactions and weekly reviews are helping students stay on track and achieve project milestones.</a:t>
            </a:r>
          </a:p>
          <a:p>
            <a:br>
              <a:rPr lang="en-IN" sz="1100" dirty="0"/>
            </a:br>
            <a:r>
              <a:rPr lang="en-IN" sz="1100" b="1" dirty="0"/>
              <a:t>2. 1M1B Internship Program – Excellent Student Participation</a:t>
            </a:r>
          </a:p>
          <a:p>
            <a:r>
              <a:rPr lang="en-IN" sz="1100" dirty="0"/>
              <a:t>The institution successfully facilitated registrations for the </a:t>
            </a:r>
            <a:r>
              <a:rPr lang="en-IN" sz="1100" b="1" dirty="0"/>
              <a:t>1M1B Internship Program</a:t>
            </a:r>
            <a:r>
              <a:rPr lang="en-IN" sz="1100" dirty="0"/>
              <a:t>, providing students with valuable industry exposure and skill development opportunities.</a:t>
            </a:r>
          </a:p>
          <a:p>
            <a:r>
              <a:rPr lang="en-IN" sz="1100" b="1" dirty="0"/>
              <a:t>92 students registered</a:t>
            </a:r>
            <a:r>
              <a:rPr lang="en-IN" sz="1100" dirty="0"/>
              <a:t> for the internship program. </a:t>
            </a:r>
          </a:p>
          <a:p>
            <a:r>
              <a:rPr lang="en-IN" sz="1100" b="1" dirty="0"/>
              <a:t>75 students received their official offer letters</a:t>
            </a:r>
            <a:r>
              <a:rPr lang="en-IN" sz="1100" dirty="0"/>
              <a:t> and enrolled in the internship. </a:t>
            </a:r>
          </a:p>
          <a:p>
            <a:r>
              <a:rPr lang="en-IN" sz="1100" dirty="0"/>
              <a:t>Students have been actively participating in the training and learning sessions. </a:t>
            </a:r>
          </a:p>
          <a:p>
            <a:r>
              <a:rPr lang="en-IN" sz="1100" dirty="0"/>
              <a:t>As of May, </a:t>
            </a:r>
            <a:r>
              <a:rPr lang="en-IN" sz="1100" b="1" dirty="0"/>
              <a:t>9 internship sessions have been successfully completed</a:t>
            </a:r>
            <a:r>
              <a:rPr lang="en-IN" sz="1100" dirty="0"/>
              <a:t>, with consistent student attendance and engagement. </a:t>
            </a:r>
          </a:p>
          <a:p>
            <a:r>
              <a:rPr lang="en-IN" sz="1100" dirty="0"/>
              <a:t>The program continues to enhance students’ professional skills, industry awareness, and career readiness.</a:t>
            </a:r>
          </a:p>
          <a:p>
            <a:endParaRPr lang="en-IN"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7" name="Google Shape;607;g388aa59c50f_0_44"/>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30</a:t>
            </a:fld>
            <a:endParaRPr lang="en-US"/>
          </a:p>
        </p:txBody>
      </p:sp>
      <p:sp>
        <p:nvSpPr>
          <p:cNvPr id="25" name="Google Shape;580;g388aa59c50f_0_31"/>
          <p:cNvSpPr txBox="1">
            <a:spLocks noGrp="1"/>
          </p:cNvSpPr>
          <p:nvPr>
            <p:ph type="title"/>
          </p:nvPr>
        </p:nvSpPr>
        <p:spPr>
          <a:xfrm>
            <a:off x="425446" y="498792"/>
            <a:ext cx="4301400" cy="50482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GB" sz="1600" dirty="0">
                <a:sym typeface="+mn-ea"/>
              </a:rPr>
              <a:t>May Month</a:t>
            </a:r>
            <a:r>
              <a:rPr lang="en-US" sz="1600" dirty="0">
                <a:sym typeface="+mn-ea"/>
              </a:rPr>
              <a:t> Highlights:</a:t>
            </a:r>
            <a:br>
              <a:rPr lang="en-US" sz="1600" dirty="0">
                <a:solidFill>
                  <a:schemeClr val="dk1"/>
                </a:solidFill>
              </a:rPr>
            </a:br>
            <a:endParaRPr lang="en-US" sz="1600" dirty="0">
              <a:solidFill>
                <a:schemeClr val="dk1"/>
              </a:solidFill>
            </a:endParaRPr>
          </a:p>
        </p:txBody>
      </p:sp>
      <p:grpSp>
        <p:nvGrpSpPr>
          <p:cNvPr id="26" name="Google Shape;583;g388aa59c50f_0_31"/>
          <p:cNvGrpSpPr/>
          <p:nvPr/>
        </p:nvGrpSpPr>
        <p:grpSpPr>
          <a:xfrm>
            <a:off x="521270" y="814386"/>
            <a:ext cx="1813218" cy="58449"/>
            <a:chOff x="438146" y="814387"/>
            <a:chExt cx="1043380" cy="57150"/>
          </a:xfrm>
        </p:grpSpPr>
        <p:sp>
          <p:nvSpPr>
            <p:cNvPr id="27" name="Google Shape;584;g388aa59c50f_0_31"/>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 name="Google Shape;585;g388aa59c50f_0_31"/>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3" name="Picture 2" descr="Sri Amaraavathi College of Arts &amp; Science">
            <a:extLst>
              <a:ext uri="{FF2B5EF4-FFF2-40B4-BE49-F238E27FC236}">
                <a16:creationId xmlns:a16="http://schemas.microsoft.com/office/drawing/2014/main" id="{F0D92E3A-042D-6BE8-02F0-7865C04A00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704" y="76998"/>
            <a:ext cx="1664784" cy="421794"/>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2">
            <a:extLst>
              <a:ext uri="{FF2B5EF4-FFF2-40B4-BE49-F238E27FC236}">
                <a16:creationId xmlns:a16="http://schemas.microsoft.com/office/drawing/2014/main" id="{3BBF3C08-C6EA-73BF-86FA-19EAE239096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2B218694-63F9-54D2-4BCE-339D8C8C9746}"/>
              </a:ext>
            </a:extLst>
          </p:cNvPr>
          <p:cNvSpPr txBox="1"/>
          <p:nvPr/>
        </p:nvSpPr>
        <p:spPr>
          <a:xfrm>
            <a:off x="221152" y="920586"/>
            <a:ext cx="9006496" cy="2800767"/>
          </a:xfrm>
          <a:prstGeom prst="rect">
            <a:avLst/>
          </a:prstGeom>
          <a:noFill/>
        </p:spPr>
        <p:txBody>
          <a:bodyPr wrap="square">
            <a:spAutoFit/>
          </a:bodyPr>
          <a:lstStyle/>
          <a:p>
            <a:pPr>
              <a:buNone/>
            </a:pPr>
            <a:r>
              <a:rPr lang="en-IN" sz="1100" b="1" dirty="0"/>
              <a:t>3. HIRE Assessment Conducted to Evaluate Placement Readiness</a:t>
            </a:r>
          </a:p>
          <a:p>
            <a:pPr>
              <a:buNone/>
            </a:pPr>
            <a:r>
              <a:rPr lang="en-IN" sz="1100" dirty="0"/>
              <a:t>To assess students' placement preparedness and identify their strengths and improvement areas, the </a:t>
            </a:r>
            <a:r>
              <a:rPr lang="en-IN" sz="1100" b="1" dirty="0"/>
              <a:t>HIRE Assessment</a:t>
            </a:r>
            <a:r>
              <a:rPr lang="en-IN" sz="1100" dirty="0"/>
              <a:t> was conducted on </a:t>
            </a:r>
            <a:r>
              <a:rPr lang="en-IN" sz="1100" b="1" dirty="0"/>
              <a:t>20th May 2026</a:t>
            </a:r>
            <a:r>
              <a:rPr lang="en-IN" sz="1100" dirty="0"/>
              <a:t>.</a:t>
            </a:r>
          </a:p>
          <a:p>
            <a:pPr>
              <a:buNone/>
            </a:pPr>
            <a:r>
              <a:rPr lang="en-IN" sz="1100" dirty="0"/>
              <a:t>The assessment was designed in three stages:</a:t>
            </a:r>
          </a:p>
          <a:p>
            <a:r>
              <a:rPr lang="en-IN" sz="1100" b="1" dirty="0"/>
              <a:t>I)Aptitude Assessment</a:t>
            </a:r>
            <a:r>
              <a:rPr lang="en-IN" sz="1100" dirty="0"/>
              <a:t> </a:t>
            </a:r>
          </a:p>
          <a:p>
            <a:r>
              <a:rPr lang="en-IN" sz="1100" b="1" dirty="0"/>
              <a:t>II)Programming/Technical Assessment (DSA)</a:t>
            </a:r>
            <a:r>
              <a:rPr lang="en-IN" sz="1100" dirty="0"/>
              <a:t> </a:t>
            </a:r>
          </a:p>
          <a:p>
            <a:r>
              <a:rPr lang="en-IN" sz="1100" b="1" dirty="0"/>
              <a:t>III)Placement Readiness Evaluation</a:t>
            </a:r>
            <a:r>
              <a:rPr lang="en-IN" sz="1100" dirty="0"/>
              <a:t> </a:t>
            </a:r>
          </a:p>
          <a:p>
            <a:pPr>
              <a:buNone/>
            </a:pPr>
            <a:r>
              <a:rPr lang="en-IN" sz="1100" b="1" dirty="0"/>
              <a:t>Key Outcomes:</a:t>
            </a:r>
            <a:endParaRPr lang="en-IN" sz="1100" dirty="0"/>
          </a:p>
          <a:p>
            <a:pPr>
              <a:buFont typeface="Arial" panose="020B0604020202020204" pitchFamily="34" charset="0"/>
              <a:buChar char="•"/>
            </a:pPr>
            <a:r>
              <a:rPr lang="en-IN" sz="1100" dirty="0"/>
              <a:t>Students demonstrated strong participation and enthusiasm throughout the assessment process. </a:t>
            </a:r>
          </a:p>
          <a:p>
            <a:pPr>
              <a:buFont typeface="Arial" panose="020B0604020202020204" pitchFamily="34" charset="0"/>
              <a:buChar char="•"/>
            </a:pPr>
            <a:r>
              <a:rPr lang="en-IN" sz="1100" dirty="0"/>
              <a:t>Overall performance was encouraging, indicating a positive level of placement readiness among participants. </a:t>
            </a:r>
          </a:p>
          <a:p>
            <a:pPr>
              <a:buFont typeface="Arial" panose="020B0604020202020204" pitchFamily="34" charset="0"/>
              <a:buChar char="•"/>
            </a:pPr>
            <a:r>
              <a:rPr lang="en-IN" sz="1100" dirty="0"/>
              <a:t>The assessment results will help mentors and placement teams provide targeted support and training to further improve student outcomes. </a:t>
            </a:r>
          </a:p>
          <a:p>
            <a:pPr>
              <a:buNone/>
            </a:pPr>
            <a:r>
              <a:rPr lang="en-IN" sz="1100" b="1" dirty="0"/>
              <a:t>Looking Ahead</a:t>
            </a:r>
          </a:p>
          <a:p>
            <a:pPr>
              <a:buFont typeface="Arial" panose="020B0604020202020204" pitchFamily="34" charset="0"/>
              <a:buChar char="•"/>
            </a:pPr>
            <a:r>
              <a:rPr lang="en-IN" sz="1100" dirty="0"/>
              <a:t>Completion of the remaining Build-to-Learn internship projects. </a:t>
            </a:r>
          </a:p>
          <a:p>
            <a:pPr>
              <a:buFont typeface="Arial" panose="020B0604020202020204" pitchFamily="34" charset="0"/>
              <a:buChar char="•"/>
            </a:pPr>
            <a:r>
              <a:rPr lang="en-IN" sz="1100" dirty="0"/>
              <a:t>Continued engagement in the 1M1B Internship Program and upcoming learning sessions. </a:t>
            </a:r>
          </a:p>
          <a:p>
            <a:pPr>
              <a:buFont typeface="Arial" panose="020B0604020202020204" pitchFamily="34" charset="0"/>
              <a:buChar char="•"/>
            </a:pPr>
            <a:r>
              <a:rPr lang="en-IN" sz="1100" dirty="0"/>
              <a:t>Focused training interventions based on HIRE Assessment performance to strengthen placement readiness and career opportunities for students.</a:t>
            </a:r>
          </a:p>
        </p:txBody>
      </p:sp>
      <p:sp>
        <p:nvSpPr>
          <p:cNvPr id="7" name="TextBox 6">
            <a:extLst>
              <a:ext uri="{FF2B5EF4-FFF2-40B4-BE49-F238E27FC236}">
                <a16:creationId xmlns:a16="http://schemas.microsoft.com/office/drawing/2014/main" id="{D5EC05A5-9C36-4F6A-9831-E17424EFCDAF}"/>
              </a:ext>
            </a:extLst>
          </p:cNvPr>
          <p:cNvSpPr txBox="1"/>
          <p:nvPr/>
        </p:nvSpPr>
        <p:spPr>
          <a:xfrm>
            <a:off x="2306626" y="2444933"/>
            <a:ext cx="4613250" cy="307777"/>
          </a:xfrm>
          <a:prstGeom prst="rect">
            <a:avLst/>
          </a:prstGeom>
          <a:noFill/>
        </p:spPr>
        <p:txBody>
          <a:bodyPr wrap="square">
            <a:spAutoFit/>
          </a:bodyPr>
          <a:lstStyle/>
          <a:p>
            <a:endParaRPr lang="en-IN" dirty="0"/>
          </a:p>
        </p:txBody>
      </p:sp>
      <p:sp>
        <p:nvSpPr>
          <p:cNvPr id="11" name="TextBox 10">
            <a:extLst>
              <a:ext uri="{FF2B5EF4-FFF2-40B4-BE49-F238E27FC236}">
                <a16:creationId xmlns:a16="http://schemas.microsoft.com/office/drawing/2014/main" id="{F7942980-E9AB-CE5C-7355-EC16ACF46468}"/>
              </a:ext>
            </a:extLst>
          </p:cNvPr>
          <p:cNvSpPr txBox="1"/>
          <p:nvPr/>
        </p:nvSpPr>
        <p:spPr>
          <a:xfrm>
            <a:off x="2306626" y="2444933"/>
            <a:ext cx="4613250" cy="307777"/>
          </a:xfrm>
          <a:prstGeom prst="rect">
            <a:avLst/>
          </a:prstGeom>
          <a:noFill/>
        </p:spPr>
        <p:txBody>
          <a:bodyPr wrap="square">
            <a:spAutoFit/>
          </a:bodyPr>
          <a:lstStyle/>
          <a:p>
            <a:endParaRPr lang="en-IN" dirty="0"/>
          </a:p>
        </p:txBody>
      </p:sp>
      <p:pic>
        <p:nvPicPr>
          <p:cNvPr id="13" name="Picture 12">
            <a:extLst>
              <a:ext uri="{FF2B5EF4-FFF2-40B4-BE49-F238E27FC236}">
                <a16:creationId xmlns:a16="http://schemas.microsoft.com/office/drawing/2014/main" id="{E102AA4F-4082-C00E-2EAE-D03D419D0B5B}"/>
              </a:ext>
            </a:extLst>
          </p:cNvPr>
          <p:cNvPicPr>
            <a:picLocks noChangeAspect="1"/>
          </p:cNvPicPr>
          <p:nvPr/>
        </p:nvPicPr>
        <p:blipFill>
          <a:blip r:embed="rId4"/>
          <a:stretch>
            <a:fillRect/>
          </a:stretch>
        </p:blipFill>
        <p:spPr>
          <a:xfrm>
            <a:off x="1282614" y="3604546"/>
            <a:ext cx="2710723" cy="1318089"/>
          </a:xfrm>
          <a:prstGeom prst="rect">
            <a:avLst/>
          </a:prstGeom>
        </p:spPr>
      </p:pic>
      <p:pic>
        <p:nvPicPr>
          <p:cNvPr id="15" name="Picture 14">
            <a:extLst>
              <a:ext uri="{FF2B5EF4-FFF2-40B4-BE49-F238E27FC236}">
                <a16:creationId xmlns:a16="http://schemas.microsoft.com/office/drawing/2014/main" id="{1C2FCEDE-3732-BFFF-AE56-C80B28288F07}"/>
              </a:ext>
            </a:extLst>
          </p:cNvPr>
          <p:cNvPicPr>
            <a:picLocks noChangeAspect="1"/>
          </p:cNvPicPr>
          <p:nvPr/>
        </p:nvPicPr>
        <p:blipFill>
          <a:blip r:embed="rId5"/>
          <a:stretch>
            <a:fillRect/>
          </a:stretch>
        </p:blipFill>
        <p:spPr>
          <a:xfrm>
            <a:off x="4785130" y="3604546"/>
            <a:ext cx="2492402" cy="13248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7" name="Google Shape;607;g388aa59c50f_0_44"/>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31</a:t>
            </a:fld>
            <a:endParaRPr lang="en-US"/>
          </a:p>
        </p:txBody>
      </p:sp>
      <p:sp>
        <p:nvSpPr>
          <p:cNvPr id="13" name="Google Shape;580;g388aa59c50f_0_31"/>
          <p:cNvSpPr txBox="1">
            <a:spLocks noGrp="1"/>
          </p:cNvSpPr>
          <p:nvPr>
            <p:ph type="title"/>
          </p:nvPr>
        </p:nvSpPr>
        <p:spPr>
          <a:xfrm>
            <a:off x="370030" y="408741"/>
            <a:ext cx="4301400" cy="504825"/>
          </a:xfrm>
          <a:prstGeom prst="rect">
            <a:avLst/>
          </a:prstGeom>
          <a:noFill/>
          <a:ln>
            <a:noFill/>
          </a:ln>
        </p:spPr>
        <p:txBody>
          <a:bodyPr spcFirstLastPara="1" wrap="square" lIns="0" tIns="12700" rIns="0" bIns="0" anchor="t" anchorCtr="0">
            <a:spAutoFit/>
          </a:bodyPr>
          <a:lstStyle/>
          <a:p>
            <a:pPr marL="12700"/>
            <a:r>
              <a:rPr lang="en-GB" sz="1600" dirty="0">
                <a:sym typeface="+mn-ea"/>
              </a:rPr>
              <a:t>Student Acheivements</a:t>
            </a:r>
            <a:r>
              <a:rPr lang="en-US" sz="1600" dirty="0">
                <a:sym typeface="+mn-ea"/>
              </a:rPr>
              <a:t>:</a:t>
            </a:r>
            <a:br>
              <a:rPr lang="en-US" sz="1600" dirty="0">
                <a:solidFill>
                  <a:schemeClr val="dk1"/>
                </a:solidFill>
              </a:rPr>
            </a:br>
            <a:endParaRPr lang="en-US" sz="1600" dirty="0">
              <a:solidFill>
                <a:schemeClr val="dk1"/>
              </a:solidFill>
            </a:endParaRPr>
          </a:p>
        </p:txBody>
      </p:sp>
      <p:grpSp>
        <p:nvGrpSpPr>
          <p:cNvPr id="3" name="Google Shape;583;g388aa59c50f_0_31"/>
          <p:cNvGrpSpPr/>
          <p:nvPr/>
        </p:nvGrpSpPr>
        <p:grpSpPr>
          <a:xfrm>
            <a:off x="465854" y="724335"/>
            <a:ext cx="1813218" cy="58449"/>
            <a:chOff x="438146" y="814387"/>
            <a:chExt cx="1043380" cy="57150"/>
          </a:xfrm>
        </p:grpSpPr>
        <p:sp>
          <p:nvSpPr>
            <p:cNvPr id="15" name="Google Shape;584;g388aa59c50f_0_31"/>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Google Shape;585;g388aa59c50f_0_31"/>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 name="Text Box 3"/>
          <p:cNvSpPr txBox="1"/>
          <p:nvPr/>
        </p:nvSpPr>
        <p:spPr>
          <a:xfrm>
            <a:off x="3337560" y="753559"/>
            <a:ext cx="4861559" cy="2521585"/>
          </a:xfrm>
          <a:prstGeom prst="rect">
            <a:avLst/>
          </a:prstGeom>
          <a:noFill/>
        </p:spPr>
        <p:txBody>
          <a:bodyPr wrap="square" rtlCol="0">
            <a:noAutofit/>
          </a:bodyPr>
          <a:lstStyle/>
          <a:p>
            <a:r>
              <a:rPr lang="en-IN" sz="1600" b="1" dirty="0"/>
              <a:t>AWS Student Builder Campus Leader 2026</a:t>
            </a:r>
          </a:p>
          <a:p>
            <a:endParaRPr lang="en-IN" sz="1600" b="1" dirty="0"/>
          </a:p>
          <a:p>
            <a:pPr marL="171450" indent="-171450">
              <a:buFont typeface="Wingdings" panose="05000000000000000000" pitchFamily="2" charset="2"/>
              <a:buChar char="Ø"/>
            </a:pPr>
            <a:r>
              <a:rPr lang="en-IN" sz="1200" dirty="0"/>
              <a:t>We are delighted to share that </a:t>
            </a:r>
            <a:r>
              <a:rPr lang="en-IN" sz="1200" b="1" dirty="0"/>
              <a:t>Mr. Karthikeyan V</a:t>
            </a:r>
            <a:r>
              <a:rPr lang="en-IN" sz="1200" dirty="0"/>
              <a:t>, a </a:t>
            </a:r>
            <a:r>
              <a:rPr lang="en-IN" sz="1200" b="1" dirty="0"/>
              <a:t>II Year B.Sc. Artificial Intelligence &amp; Machine Learning (AIML)</a:t>
            </a:r>
            <a:r>
              <a:rPr lang="en-IN" sz="1200" dirty="0"/>
              <a:t> student, has been selected as an </a:t>
            </a:r>
            <a:r>
              <a:rPr lang="en-IN" sz="1200" b="1" dirty="0"/>
              <a:t>AWS Student Builder Campus Leader 2026</a:t>
            </a:r>
            <a:r>
              <a:rPr lang="en-IN" sz="1200" dirty="0"/>
              <a:t> under the AWS Global University Programme.</a:t>
            </a:r>
          </a:p>
          <a:p>
            <a:r>
              <a:rPr lang="en-IN" sz="1200" b="1" dirty="0"/>
              <a:t>Achievement Highlights:</a:t>
            </a:r>
            <a:endParaRPr lang="en-IN" sz="1200" dirty="0"/>
          </a:p>
          <a:p>
            <a:pPr marL="171450" indent="-171450">
              <a:buFont typeface="Wingdings" panose="05000000000000000000" pitchFamily="2" charset="2"/>
              <a:buChar char="Ø"/>
            </a:pPr>
            <a:r>
              <a:rPr lang="en-IN" sz="1200" dirty="0"/>
              <a:t>Successfully cleared the AWS selection and interview process. </a:t>
            </a:r>
          </a:p>
          <a:p>
            <a:pPr marL="171450" indent="-171450">
              <a:buFont typeface="Wingdings" panose="05000000000000000000" pitchFamily="2" charset="2"/>
              <a:buChar char="Ø"/>
            </a:pPr>
            <a:r>
              <a:rPr lang="en-IN" sz="1200" dirty="0"/>
              <a:t>Selected as an </a:t>
            </a:r>
            <a:r>
              <a:rPr lang="en-IN" sz="1200" b="1" dirty="0"/>
              <a:t>AWS Student Builder Campus Leader 2026</a:t>
            </a:r>
            <a:r>
              <a:rPr lang="en-IN" sz="1200" dirty="0"/>
              <a:t>, representing our institution at the national and global student community level. </a:t>
            </a:r>
          </a:p>
          <a:p>
            <a:pPr marL="171450" indent="-171450">
              <a:buFont typeface="Wingdings" panose="05000000000000000000" pitchFamily="2" charset="2"/>
              <a:buChar char="Ø"/>
            </a:pPr>
            <a:r>
              <a:rPr lang="en-IN" sz="1200" dirty="0"/>
              <a:t>Will lead and promote cloud computing awareness, technical learning initiatives, workshops, and student engagement activities on campus. </a:t>
            </a:r>
          </a:p>
          <a:p>
            <a:pPr marL="171450" indent="-171450">
              <a:buFont typeface="Wingdings" panose="05000000000000000000" pitchFamily="2" charset="2"/>
              <a:buChar char="Ø"/>
            </a:pPr>
            <a:r>
              <a:rPr lang="en-IN" sz="1200" dirty="0"/>
              <a:t>Will gain access to AWS learning resources, mentorship opportunities, leadership training, and networking platforms. </a:t>
            </a:r>
          </a:p>
          <a:p>
            <a:pPr marL="171450" indent="-171450">
              <a:buFont typeface="Wingdings" panose="05000000000000000000" pitchFamily="2" charset="2"/>
              <a:buChar char="Ø"/>
            </a:pPr>
            <a:r>
              <a:rPr lang="en-IN" sz="1200" dirty="0"/>
              <a:t>This achievement reflects his technical expertise, leadership potential, and commitment to continuous learning. </a:t>
            </a:r>
          </a:p>
          <a:p>
            <a:pPr marL="171450" indent="-171450">
              <a:buFont typeface="Wingdings" panose="05000000000000000000" pitchFamily="2" charset="2"/>
              <a:buChar char="Ø"/>
            </a:pPr>
            <a:r>
              <a:rPr lang="en-IN" sz="1200" dirty="0"/>
              <a:t>We congratulate </a:t>
            </a:r>
            <a:r>
              <a:rPr lang="en-IN" sz="1200" b="1" dirty="0"/>
              <a:t>Mr. Karthikeyan V</a:t>
            </a:r>
            <a:r>
              <a:rPr lang="en-IN" sz="1200" dirty="0"/>
              <a:t> on this remarkable accomplishment and wish him continued success in his journey as an AWS Campus Leader.</a:t>
            </a:r>
          </a:p>
        </p:txBody>
      </p:sp>
      <p:pic>
        <p:nvPicPr>
          <p:cNvPr id="5" name="Picture 4" descr="Sri Amaraavathi College of Arts &amp; Science">
            <a:extLst>
              <a:ext uri="{FF2B5EF4-FFF2-40B4-BE49-F238E27FC236}">
                <a16:creationId xmlns:a16="http://schemas.microsoft.com/office/drawing/2014/main" id="{0B704663-B76C-F737-E43B-4681D6E54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288" y="14846"/>
            <a:ext cx="1664784" cy="42179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FCEB99A-0C97-12DE-525D-837378C8082F}"/>
              </a:ext>
            </a:extLst>
          </p:cNvPr>
          <p:cNvPicPr>
            <a:picLocks noChangeAspect="1"/>
          </p:cNvPicPr>
          <p:nvPr/>
        </p:nvPicPr>
        <p:blipFill>
          <a:blip r:embed="rId4"/>
          <a:stretch>
            <a:fillRect/>
          </a:stretch>
        </p:blipFill>
        <p:spPr>
          <a:xfrm>
            <a:off x="370031" y="1070479"/>
            <a:ext cx="2190290" cy="290858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05">
          <a:extLst>
            <a:ext uri="{FF2B5EF4-FFF2-40B4-BE49-F238E27FC236}">
              <a16:creationId xmlns:a16="http://schemas.microsoft.com/office/drawing/2014/main" id="{61B44C6C-2D38-1C4C-3067-FF605B0E106B}"/>
            </a:ext>
          </a:extLst>
        </p:cNvPr>
        <p:cNvGrpSpPr/>
        <p:nvPr/>
      </p:nvGrpSpPr>
      <p:grpSpPr>
        <a:xfrm>
          <a:off x="0" y="0"/>
          <a:ext cx="0" cy="0"/>
          <a:chOff x="0" y="0"/>
          <a:chExt cx="0" cy="0"/>
        </a:xfrm>
      </p:grpSpPr>
      <p:sp>
        <p:nvSpPr>
          <p:cNvPr id="607" name="Google Shape;607;g388aa59c50f_0_44">
            <a:extLst>
              <a:ext uri="{FF2B5EF4-FFF2-40B4-BE49-F238E27FC236}">
                <a16:creationId xmlns:a16="http://schemas.microsoft.com/office/drawing/2014/main" id="{404E6EC0-BC9B-26A9-DC81-C0125D1AFF41}"/>
              </a:ext>
            </a:extLst>
          </p:cNvPr>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32</a:t>
            </a:fld>
            <a:endParaRPr lang="en-US"/>
          </a:p>
        </p:txBody>
      </p:sp>
      <p:sp>
        <p:nvSpPr>
          <p:cNvPr id="13" name="Google Shape;580;g388aa59c50f_0_31">
            <a:extLst>
              <a:ext uri="{FF2B5EF4-FFF2-40B4-BE49-F238E27FC236}">
                <a16:creationId xmlns:a16="http://schemas.microsoft.com/office/drawing/2014/main" id="{E242ECAC-A709-CD1F-239C-D1A01DE39CEE}"/>
              </a:ext>
            </a:extLst>
          </p:cNvPr>
          <p:cNvSpPr txBox="1">
            <a:spLocks noGrp="1"/>
          </p:cNvSpPr>
          <p:nvPr>
            <p:ph type="title"/>
          </p:nvPr>
        </p:nvSpPr>
        <p:spPr>
          <a:xfrm>
            <a:off x="370030" y="408741"/>
            <a:ext cx="4301400" cy="504825"/>
          </a:xfrm>
          <a:prstGeom prst="rect">
            <a:avLst/>
          </a:prstGeom>
          <a:noFill/>
          <a:ln>
            <a:noFill/>
          </a:ln>
        </p:spPr>
        <p:txBody>
          <a:bodyPr spcFirstLastPara="1" wrap="square" lIns="0" tIns="12700" rIns="0" bIns="0" anchor="t" anchorCtr="0">
            <a:spAutoFit/>
          </a:bodyPr>
          <a:lstStyle/>
          <a:p>
            <a:pPr marL="12700"/>
            <a:r>
              <a:rPr lang="en-GB" sz="1600" dirty="0">
                <a:sym typeface="+mn-ea"/>
              </a:rPr>
              <a:t>Student Acheivements</a:t>
            </a:r>
            <a:r>
              <a:rPr lang="en-US" sz="1600" dirty="0">
                <a:sym typeface="+mn-ea"/>
              </a:rPr>
              <a:t>:</a:t>
            </a:r>
            <a:br>
              <a:rPr lang="en-US" sz="1600" dirty="0">
                <a:solidFill>
                  <a:schemeClr val="dk1"/>
                </a:solidFill>
              </a:rPr>
            </a:br>
            <a:endParaRPr lang="en-US" sz="1600" dirty="0">
              <a:solidFill>
                <a:schemeClr val="dk1"/>
              </a:solidFill>
            </a:endParaRPr>
          </a:p>
        </p:txBody>
      </p:sp>
      <p:grpSp>
        <p:nvGrpSpPr>
          <p:cNvPr id="3" name="Google Shape;583;g388aa59c50f_0_31">
            <a:extLst>
              <a:ext uri="{FF2B5EF4-FFF2-40B4-BE49-F238E27FC236}">
                <a16:creationId xmlns:a16="http://schemas.microsoft.com/office/drawing/2014/main" id="{1D1331D2-3D23-6D6E-F00B-6EDC9C7A7AB6}"/>
              </a:ext>
            </a:extLst>
          </p:cNvPr>
          <p:cNvGrpSpPr/>
          <p:nvPr/>
        </p:nvGrpSpPr>
        <p:grpSpPr>
          <a:xfrm>
            <a:off x="465854" y="724335"/>
            <a:ext cx="1813218" cy="58449"/>
            <a:chOff x="438146" y="814387"/>
            <a:chExt cx="1043380" cy="57150"/>
          </a:xfrm>
        </p:grpSpPr>
        <p:sp>
          <p:nvSpPr>
            <p:cNvPr id="15" name="Google Shape;584;g388aa59c50f_0_31">
              <a:extLst>
                <a:ext uri="{FF2B5EF4-FFF2-40B4-BE49-F238E27FC236}">
                  <a16:creationId xmlns:a16="http://schemas.microsoft.com/office/drawing/2014/main" id="{13CA83F3-EBD7-B37C-E0FD-96A347D60495}"/>
                </a:ext>
              </a:extLst>
            </p:cNvPr>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Google Shape;585;g388aa59c50f_0_31">
              <a:extLst>
                <a:ext uri="{FF2B5EF4-FFF2-40B4-BE49-F238E27FC236}">
                  <a16:creationId xmlns:a16="http://schemas.microsoft.com/office/drawing/2014/main" id="{3C481FF7-563F-DEAA-61A6-4842026C3E97}"/>
                </a:ext>
              </a:extLst>
            </p:cNvPr>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 name="Text Box 3">
            <a:extLst>
              <a:ext uri="{FF2B5EF4-FFF2-40B4-BE49-F238E27FC236}">
                <a16:creationId xmlns:a16="http://schemas.microsoft.com/office/drawing/2014/main" id="{CAC2C8BE-1B2B-67D1-B473-6C51D135FBFF}"/>
              </a:ext>
            </a:extLst>
          </p:cNvPr>
          <p:cNvSpPr txBox="1"/>
          <p:nvPr/>
        </p:nvSpPr>
        <p:spPr>
          <a:xfrm>
            <a:off x="370205" y="985520"/>
            <a:ext cx="4201795" cy="2521585"/>
          </a:xfrm>
          <a:prstGeom prst="rect">
            <a:avLst/>
          </a:prstGeom>
          <a:noFill/>
        </p:spPr>
        <p:txBody>
          <a:bodyPr wrap="square" rtlCol="0">
            <a:noAutofit/>
          </a:bodyPr>
          <a:lstStyle/>
          <a:p>
            <a:r>
              <a:rPr lang="en-IN" b="1" dirty="0"/>
              <a:t>Google Student Ambassador 2026 Selection</a:t>
            </a:r>
          </a:p>
          <a:p>
            <a:endParaRPr lang="en-IN" b="1" dirty="0"/>
          </a:p>
          <a:p>
            <a:r>
              <a:rPr lang="en-IN" sz="1100" dirty="0"/>
              <a:t>We are proud to announce that </a:t>
            </a:r>
            <a:r>
              <a:rPr lang="en-IN" sz="1100" b="1" dirty="0"/>
              <a:t>Mr. N. Bhadhreesh</a:t>
            </a:r>
            <a:r>
              <a:rPr lang="en-IN" sz="1100" dirty="0"/>
              <a:t> and </a:t>
            </a:r>
            <a:r>
              <a:rPr lang="en-IN" sz="1100" b="1" dirty="0"/>
              <a:t>Ms. Dhasanya M</a:t>
            </a:r>
            <a:r>
              <a:rPr lang="en-IN" sz="1100" dirty="0"/>
              <a:t>, students of </a:t>
            </a:r>
            <a:r>
              <a:rPr lang="en-IN" sz="1100" b="1" dirty="0"/>
              <a:t>III Year BCA</a:t>
            </a:r>
            <a:r>
              <a:rPr lang="en-IN" sz="1100" dirty="0"/>
              <a:t>, have been selected as </a:t>
            </a:r>
            <a:r>
              <a:rPr lang="en-IN" sz="1100" b="1" dirty="0"/>
              <a:t>Google Student Ambassadors 2026</a:t>
            </a:r>
            <a:r>
              <a:rPr lang="en-IN" sz="1100" dirty="0"/>
              <a:t>.</a:t>
            </a:r>
            <a:br>
              <a:rPr lang="en-IN" sz="1100" dirty="0"/>
            </a:br>
            <a:endParaRPr lang="en-IN" sz="1100" dirty="0"/>
          </a:p>
          <a:p>
            <a:r>
              <a:rPr lang="en-IN" sz="1100" b="1" dirty="0"/>
              <a:t>Achievement Highlights:</a:t>
            </a:r>
            <a:endParaRPr lang="en-IN" sz="1100" dirty="0"/>
          </a:p>
          <a:p>
            <a:pPr marL="171450" indent="-171450">
              <a:buFont typeface="Wingdings" panose="05000000000000000000" pitchFamily="2" charset="2"/>
              <a:buChar char="Ø"/>
            </a:pPr>
            <a:r>
              <a:rPr lang="en-IN" sz="1100" dirty="0"/>
              <a:t>Successfully completed the selection process and secured a place in the </a:t>
            </a:r>
            <a:r>
              <a:rPr lang="en-IN" sz="1100" b="1" dirty="0"/>
              <a:t>Google Student Ambassador Program 2026</a:t>
            </a:r>
            <a:r>
              <a:rPr lang="en-IN" sz="1100" dirty="0"/>
              <a:t>. </a:t>
            </a:r>
          </a:p>
          <a:p>
            <a:pPr marL="171450" indent="-171450">
              <a:buFont typeface="Wingdings" panose="05000000000000000000" pitchFamily="2" charset="2"/>
              <a:buChar char="Ø"/>
            </a:pPr>
            <a:r>
              <a:rPr lang="en-IN" sz="1100" dirty="0"/>
              <a:t>Selected to represent their institution as part of the Tamil Nadu Student Ambassador community. </a:t>
            </a:r>
          </a:p>
          <a:p>
            <a:pPr marL="171450" indent="-171450">
              <a:buFont typeface="Wingdings" panose="05000000000000000000" pitchFamily="2" charset="2"/>
              <a:buChar char="Ø"/>
            </a:pPr>
            <a:r>
              <a:rPr lang="en-IN" sz="1100" dirty="0"/>
              <a:t>Will actively participate in technology-focused initiatives, community engagement activities, peer learning programs, and digital skill development campaigns. </a:t>
            </a:r>
          </a:p>
          <a:p>
            <a:pPr marL="171450" indent="-171450">
              <a:buFont typeface="Wingdings" panose="05000000000000000000" pitchFamily="2" charset="2"/>
              <a:buChar char="Ø"/>
            </a:pPr>
            <a:r>
              <a:rPr lang="en-IN" sz="1100" dirty="0"/>
              <a:t>Will receive opportunities to collaborate with fellow student leaders, attend mentoring sessions, and contribute to promoting Google's learning ecosystem among students. </a:t>
            </a:r>
          </a:p>
          <a:p>
            <a:pPr marL="171450" indent="-171450">
              <a:buFont typeface="Wingdings" panose="05000000000000000000" pitchFamily="2" charset="2"/>
              <a:buChar char="Ø"/>
            </a:pPr>
            <a:r>
              <a:rPr lang="en-IN" sz="1100" dirty="0"/>
              <a:t>Their selection reflects their leadership qualities, communication skills, technical interest, and commitment to student community development.</a:t>
            </a:r>
          </a:p>
        </p:txBody>
      </p:sp>
      <p:pic>
        <p:nvPicPr>
          <p:cNvPr id="5" name="Picture 4" descr="Sri Amaraavathi College of Arts &amp; Science">
            <a:extLst>
              <a:ext uri="{FF2B5EF4-FFF2-40B4-BE49-F238E27FC236}">
                <a16:creationId xmlns:a16="http://schemas.microsoft.com/office/drawing/2014/main" id="{3D7ED1A5-5F2C-F7F7-030D-F671081F2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288" y="14846"/>
            <a:ext cx="1664784" cy="42179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38AEB98-6851-BE04-52A9-E05402C8F045}"/>
              </a:ext>
            </a:extLst>
          </p:cNvPr>
          <p:cNvPicPr>
            <a:picLocks noChangeAspect="1"/>
          </p:cNvPicPr>
          <p:nvPr/>
        </p:nvPicPr>
        <p:blipFill>
          <a:blip r:embed="rId4"/>
          <a:stretch>
            <a:fillRect/>
          </a:stretch>
        </p:blipFill>
        <p:spPr>
          <a:xfrm>
            <a:off x="4786304" y="1334584"/>
            <a:ext cx="3864798" cy="2753546"/>
          </a:xfrm>
          <a:prstGeom prst="rect">
            <a:avLst/>
          </a:prstGeom>
        </p:spPr>
      </p:pic>
    </p:spTree>
    <p:extLst>
      <p:ext uri="{BB962C8B-B14F-4D97-AF65-F5344CB8AC3E}">
        <p14:creationId xmlns:p14="http://schemas.microsoft.com/office/powerpoint/2010/main" val="3200367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7" name="Google Shape;607;g388aa59c50f_0_44"/>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33</a:t>
            </a:fld>
            <a:endParaRPr lang="en-US"/>
          </a:p>
        </p:txBody>
      </p:sp>
      <p:sp>
        <p:nvSpPr>
          <p:cNvPr id="13" name="Google Shape;580;g388aa59c50f_0_31"/>
          <p:cNvSpPr txBox="1">
            <a:spLocks noGrp="1"/>
          </p:cNvSpPr>
          <p:nvPr>
            <p:ph type="title"/>
          </p:nvPr>
        </p:nvSpPr>
        <p:spPr>
          <a:xfrm>
            <a:off x="370030" y="408741"/>
            <a:ext cx="4301400" cy="504825"/>
          </a:xfrm>
          <a:prstGeom prst="rect">
            <a:avLst/>
          </a:prstGeom>
          <a:noFill/>
          <a:ln>
            <a:noFill/>
          </a:ln>
        </p:spPr>
        <p:txBody>
          <a:bodyPr spcFirstLastPara="1" wrap="square" lIns="0" tIns="12700" rIns="0" bIns="0" anchor="t" anchorCtr="0">
            <a:spAutoFit/>
          </a:bodyPr>
          <a:lstStyle/>
          <a:p>
            <a:pPr marL="12700"/>
            <a:r>
              <a:rPr lang="en-GB" sz="1600" dirty="0">
                <a:sym typeface="+mn-ea"/>
              </a:rPr>
              <a:t>Student Project Acheivements</a:t>
            </a:r>
            <a:r>
              <a:rPr lang="en-US" sz="1600" dirty="0">
                <a:sym typeface="+mn-ea"/>
              </a:rPr>
              <a:t>:</a:t>
            </a:r>
            <a:br>
              <a:rPr lang="en-US" sz="1600" dirty="0">
                <a:solidFill>
                  <a:schemeClr val="dk1"/>
                </a:solidFill>
              </a:rPr>
            </a:br>
            <a:endParaRPr lang="en-US" sz="1600" dirty="0">
              <a:solidFill>
                <a:schemeClr val="dk1"/>
              </a:solidFill>
            </a:endParaRPr>
          </a:p>
        </p:txBody>
      </p:sp>
      <p:grpSp>
        <p:nvGrpSpPr>
          <p:cNvPr id="3" name="Google Shape;583;g388aa59c50f_0_31"/>
          <p:cNvGrpSpPr/>
          <p:nvPr/>
        </p:nvGrpSpPr>
        <p:grpSpPr>
          <a:xfrm>
            <a:off x="465854" y="724335"/>
            <a:ext cx="1813218" cy="58449"/>
            <a:chOff x="438146" y="814387"/>
            <a:chExt cx="1043380" cy="57150"/>
          </a:xfrm>
        </p:grpSpPr>
        <p:sp>
          <p:nvSpPr>
            <p:cNvPr id="15" name="Google Shape;584;g388aa59c50f_0_31"/>
            <p:cNvSpPr/>
            <p:nvPr/>
          </p:nvSpPr>
          <p:spPr>
            <a:xfrm>
              <a:off x="943046" y="814387"/>
              <a:ext cx="538480" cy="57150"/>
            </a:xfrm>
            <a:custGeom>
              <a:avLst/>
              <a:gdLst/>
              <a:ahLst/>
              <a:cxnLst/>
              <a:rect l="l" t="t" r="r" b="b"/>
              <a:pathLst>
                <a:path w="538480" h="57150" extrusionOk="0">
                  <a:moveTo>
                    <a:pt x="0" y="56999"/>
                  </a:moveTo>
                  <a:lnTo>
                    <a:pt x="538199" y="56999"/>
                  </a:lnTo>
                  <a:lnTo>
                    <a:pt x="538199" y="0"/>
                  </a:lnTo>
                  <a:lnTo>
                    <a:pt x="0" y="0"/>
                  </a:lnTo>
                  <a:lnTo>
                    <a:pt x="0" y="56999"/>
                  </a:lnTo>
                  <a:close/>
                </a:path>
              </a:pathLst>
            </a:custGeom>
            <a:solidFill>
              <a:srgbClr val="D72E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Google Shape;585;g388aa59c50f_0_31"/>
            <p:cNvSpPr/>
            <p:nvPr/>
          </p:nvSpPr>
          <p:spPr>
            <a:xfrm>
              <a:off x="438146" y="814387"/>
              <a:ext cx="505459" cy="57150"/>
            </a:xfrm>
            <a:custGeom>
              <a:avLst/>
              <a:gdLst/>
              <a:ahLst/>
              <a:cxnLst/>
              <a:rect l="l" t="t" r="r" b="b"/>
              <a:pathLst>
                <a:path w="505459" h="57150" extrusionOk="0">
                  <a:moveTo>
                    <a:pt x="504899" y="56999"/>
                  </a:moveTo>
                  <a:lnTo>
                    <a:pt x="0" y="56999"/>
                  </a:lnTo>
                  <a:lnTo>
                    <a:pt x="0" y="0"/>
                  </a:lnTo>
                  <a:lnTo>
                    <a:pt x="504899" y="0"/>
                  </a:lnTo>
                  <a:lnTo>
                    <a:pt x="504899" y="5699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4" name="Picture 3" descr="Sri Amaraavathi College of Arts &amp; Science">
            <a:extLst>
              <a:ext uri="{FF2B5EF4-FFF2-40B4-BE49-F238E27FC236}">
                <a16:creationId xmlns:a16="http://schemas.microsoft.com/office/drawing/2014/main" id="{403EF0CE-DFD0-2A1B-7676-9A1A8D273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288" y="61208"/>
            <a:ext cx="1664784" cy="4217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B2F45F2-14C2-34F5-2695-35237D63DD4D}"/>
              </a:ext>
            </a:extLst>
          </p:cNvPr>
          <p:cNvPicPr>
            <a:picLocks noChangeAspect="1"/>
          </p:cNvPicPr>
          <p:nvPr/>
        </p:nvPicPr>
        <p:blipFill>
          <a:blip r:embed="rId4"/>
          <a:stretch>
            <a:fillRect/>
          </a:stretch>
        </p:blipFill>
        <p:spPr>
          <a:xfrm>
            <a:off x="199380" y="1261099"/>
            <a:ext cx="3859948" cy="2825126"/>
          </a:xfrm>
          <a:prstGeom prst="rect">
            <a:avLst/>
          </a:prstGeom>
        </p:spPr>
      </p:pic>
      <p:pic>
        <p:nvPicPr>
          <p:cNvPr id="7" name="Picture 6">
            <a:extLst>
              <a:ext uri="{FF2B5EF4-FFF2-40B4-BE49-F238E27FC236}">
                <a16:creationId xmlns:a16="http://schemas.microsoft.com/office/drawing/2014/main" id="{CB3C284E-01DF-35C6-DFF4-79E4B6D0D6BC}"/>
              </a:ext>
            </a:extLst>
          </p:cNvPr>
          <p:cNvPicPr>
            <a:picLocks noChangeAspect="1"/>
          </p:cNvPicPr>
          <p:nvPr/>
        </p:nvPicPr>
        <p:blipFill>
          <a:blip r:embed="rId5"/>
          <a:stretch>
            <a:fillRect/>
          </a:stretch>
        </p:blipFill>
        <p:spPr>
          <a:xfrm>
            <a:off x="4250528" y="1261099"/>
            <a:ext cx="4845346" cy="282512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3" name="Google Shape;633;g37dcba7478a_1_122"/>
          <p:cNvSpPr txBox="1">
            <a:spLocks noGrp="1"/>
          </p:cNvSpPr>
          <p:nvPr>
            <p:ph type="sldNum" idx="12"/>
          </p:nvPr>
        </p:nvSpPr>
        <p:spPr>
          <a:xfrm>
            <a:off x="8874272" y="4831911"/>
            <a:ext cx="273000" cy="273900"/>
          </a:xfrm>
          <a:prstGeom prst="rect">
            <a:avLst/>
          </a:prstGeom>
          <a:noFill/>
          <a:ln>
            <a:noFill/>
          </a:ln>
        </p:spPr>
        <p:txBody>
          <a:bodyPr spcFirstLastPara="1" wrap="square" lIns="0" tIns="73025" rIns="0" bIns="0" anchor="t" anchorCtr="0">
            <a:spAutoFit/>
          </a:bodyPr>
          <a:lstStyle/>
          <a:p>
            <a:pPr marL="37465" lvl="0" indent="0" algn="l" rtl="0">
              <a:lnSpc>
                <a:spcPct val="100000"/>
              </a:lnSpc>
              <a:spcBef>
                <a:spcPts val="0"/>
              </a:spcBef>
              <a:spcAft>
                <a:spcPts val="0"/>
              </a:spcAft>
              <a:buSzPts val="1300"/>
              <a:buNone/>
            </a:pPr>
            <a:fld id="{00000000-1234-1234-1234-123412341234}" type="slidenum">
              <a:rPr lang="en-US"/>
              <a:t>34</a:t>
            </a:fld>
            <a:endParaRPr lang="en-US"/>
          </a:p>
        </p:txBody>
      </p:sp>
      <p:sp>
        <p:nvSpPr>
          <p:cNvPr id="638" name="Google Shape;638;g37dcba7478a_1_122"/>
          <p:cNvSpPr txBox="1"/>
          <p:nvPr/>
        </p:nvSpPr>
        <p:spPr>
          <a:xfrm>
            <a:off x="463959" y="3450900"/>
            <a:ext cx="8216100" cy="197400"/>
          </a:xfrm>
          <a:prstGeom prst="rect">
            <a:avLst/>
          </a:prstGeom>
          <a:noFill/>
          <a:ln>
            <a:noFill/>
          </a:ln>
        </p:spPr>
        <p:txBody>
          <a:bodyPr spcFirstLastPara="1" wrap="square" lIns="0" tIns="12700" rIns="0" bIns="0" anchor="t" anchorCtr="0">
            <a:spAutoFit/>
          </a:bodyPr>
          <a:lstStyle/>
          <a:p>
            <a:pPr marL="12700" marR="0" lvl="0" indent="0" algn="just" rtl="0">
              <a:lnSpc>
                <a:spcPct val="10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9" name="Google Shape;639;g37dcba7478a_1_122"/>
          <p:cNvSpPr/>
          <p:nvPr/>
        </p:nvSpPr>
        <p:spPr>
          <a:xfrm>
            <a:off x="948776" y="1895187"/>
            <a:ext cx="7418328" cy="1226572"/>
          </a:xfrm>
          <a:prstGeom prst="rect">
            <a:avLst/>
          </a:prstGeom>
        </p:spPr>
        <p:txBody>
          <a:bodyPr>
            <a:prstTxWarp prst="textPlain">
              <a:avLst/>
            </a:prstTxWarp>
          </a:bodyPr>
          <a:lstStyle/>
          <a:p>
            <a:pPr lvl="0" algn="ctr"/>
            <a:r>
              <a:rPr b="0" i="0" dirty="0">
                <a:ln w="9525" cap="flat" cmpd="sng">
                  <a:solidFill>
                    <a:schemeClr val="dk2"/>
                  </a:solidFill>
                  <a:prstDash val="solid"/>
                  <a:round/>
                  <a:headEnd type="none" w="sm" len="sm"/>
                  <a:tailEnd type="none" w="sm" len="sm"/>
                </a:ln>
                <a:solidFill>
                  <a:schemeClr val="tx1"/>
                </a:solidFill>
                <a:latin typeface="Castellar" panose="020A0402060406010301" pitchFamily="18" charset="0"/>
              </a:rPr>
              <a:t>Thank You</a:t>
            </a:r>
          </a:p>
        </p:txBody>
      </p:sp>
      <p:pic>
        <p:nvPicPr>
          <p:cNvPr id="3" name="Picture 2" descr="Sri Amaraavathi College of Arts &amp; Science">
            <a:extLst>
              <a:ext uri="{FF2B5EF4-FFF2-40B4-BE49-F238E27FC236}">
                <a16:creationId xmlns:a16="http://schemas.microsoft.com/office/drawing/2014/main" id="{C6CF464C-D9F4-06AC-9556-94E1F77C43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691" y="61209"/>
            <a:ext cx="1664784" cy="4217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963</TotalTime>
  <Words>3535</Words>
  <Application>Microsoft Office PowerPoint</Application>
  <PresentationFormat>On-screen Show (16:9)</PresentationFormat>
  <Paragraphs>222</Paragraphs>
  <Slides>34</Slides>
  <Notes>34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34</vt:i4>
      </vt:variant>
    </vt:vector>
  </HeadingPairs>
  <TitlesOfParts>
    <vt:vector size="44" baseType="lpstr">
      <vt:lpstr>Arial</vt:lpstr>
      <vt:lpstr>Public Sans</vt:lpstr>
      <vt:lpstr>Trebuchet MS</vt:lpstr>
      <vt:lpstr>Calibri</vt:lpstr>
      <vt:lpstr>Wingdings</vt:lpstr>
      <vt:lpstr>Castellar</vt:lpstr>
      <vt:lpstr>Arial Black</vt:lpstr>
      <vt:lpstr>quote-cjk-patch</vt:lpstr>
      <vt:lpstr>Office Theme</vt:lpstr>
      <vt:lpstr>Office Theme</vt:lpstr>
      <vt:lpstr>Monthly Performance Report – May 2026</vt:lpstr>
      <vt:lpstr>PowerPoint Presentation</vt:lpstr>
      <vt:lpstr>PowerPoint Presentation</vt:lpstr>
      <vt:lpstr>PowerPoint Presentation</vt:lpstr>
      <vt:lpstr>II Bachelor of Computer Applications  2024 - 2027</vt:lpstr>
      <vt:lpstr>Overall Attendance:</vt:lpstr>
      <vt:lpstr>Technical Evaluation</vt:lpstr>
      <vt:lpstr>Technical Evaluation</vt:lpstr>
      <vt:lpstr>Overall Communication Level </vt:lpstr>
      <vt:lpstr>Academic performance </vt:lpstr>
      <vt:lpstr>I Bachelor of Computer Applications   2025 - 2028</vt:lpstr>
      <vt:lpstr>Overall Attendance:</vt:lpstr>
      <vt:lpstr>Technical Evaluation</vt:lpstr>
      <vt:lpstr>Technical Evaluation</vt:lpstr>
      <vt:lpstr>Overall Communication Level </vt:lpstr>
      <vt:lpstr>Academic performance </vt:lpstr>
      <vt:lpstr>I Bachelor of Science (Artificial Intelligence and Machine Learning) 2025 - 2028</vt:lpstr>
      <vt:lpstr>Overall Attendance:</vt:lpstr>
      <vt:lpstr>Technical Evaluation</vt:lpstr>
      <vt:lpstr>Technical Evaluation</vt:lpstr>
      <vt:lpstr>Overall Communication Level </vt:lpstr>
      <vt:lpstr>Academic performance </vt:lpstr>
      <vt:lpstr>I Bachelor of Commerce (Fin Tech) 2025 - 2028</vt:lpstr>
      <vt:lpstr>Overall Attendance:</vt:lpstr>
      <vt:lpstr>Technical Evaluation</vt:lpstr>
      <vt:lpstr>Technical Evaluation</vt:lpstr>
      <vt:lpstr>Overall Communication Level </vt:lpstr>
      <vt:lpstr>Academic performance </vt:lpstr>
      <vt:lpstr>May Month Highlights: </vt:lpstr>
      <vt:lpstr>May Month Highlights: </vt:lpstr>
      <vt:lpstr>Student Acheivements: </vt:lpstr>
      <vt:lpstr>Student Acheivements: </vt:lpstr>
      <vt:lpstr>Student Project Acheivements: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Report – September2025</dc:title>
  <dc:creator>Karthick Gunasekaran</dc:creator>
  <cp:lastModifiedBy>yuva sri</cp:lastModifiedBy>
  <cp:revision>722</cp:revision>
  <dcterms:created xsi:type="dcterms:W3CDTF">2025-01-02T09:34:00Z</dcterms:created>
  <dcterms:modified xsi:type="dcterms:W3CDTF">2026-06-12T07:16:42Z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2025-01-04T23:30:00Z</vt:filetime>
  </property>
  <property fmtid="{D5CDD505-2E9C-101B-9397-08002B2CF9AE}" pid="3" name="Creator">
    <vt:lpwstr>Google</vt:lpwstr>
  </property>
  <property fmtid="{D5CDD505-2E9C-101B-9397-08002B2CF9AE}" pid="4" name="LastSaved">
    <vt:filetime>2025-01-04T23:30:00Z</vt:filetime>
  </property>
  <property fmtid="{D5CDD505-2E9C-101B-9397-08002B2CF9AE}" pid="5" name="ICV">
    <vt:lpwstr>C49C5CE1BBC246FFA37278FF8C776AE9_12</vt:lpwstr>
  </property>
  <property fmtid="{D5CDD505-2E9C-101B-9397-08002B2CF9AE}" pid="6" name="KSOProductBuildVer">
    <vt:lpwstr>1033-12.1.0.25242</vt:lpwstr>
  </property>
</Properties>
</file>